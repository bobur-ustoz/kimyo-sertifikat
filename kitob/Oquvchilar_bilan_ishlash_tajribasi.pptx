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3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4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To'g'ri</c:v>
                </c:pt>
              </c:strCache>
            </c:strRef>
          </c:tx>
          <c:spPr>
            <a:solidFill>
              <a:srgbClr val="145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27</c:v>
                </c:pt>
                <c:pt idx="2">
                  <c:v>26</c:v>
                </c:pt>
                <c:pt idx="3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Uzilgan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Ko'rinmaydi</c:v>
                </c:pt>
              </c:strCache>
            </c:strRef>
          </c:tx>
          <c:spPr>
            <a:solidFill>
              <a:srgbClr val="E0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D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3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Muammo</c:v>
                </c:pt>
              </c:strCache>
            </c:strRef>
          </c:tx>
          <c:spPr>
            <a:solidFill>
              <a:srgbClr val="145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3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7</c:v>
                </c:pt>
                <c:pt idx="2">
                  <c:v>23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3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To'g'ri</c:v>
                </c:pt>
              </c:strCache>
            </c:strRef>
          </c:tx>
          <c:spPr>
            <a:solidFill>
              <a:srgbClr val="145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28</c:v>
                </c:pt>
                <c:pt idx="2">
                  <c:v>22</c:v>
                </c:pt>
                <c:pt idx="3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Uzilgan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Ko'rinmaydi</c:v>
                </c:pt>
              </c:strCache>
            </c:strRef>
          </c:tx>
          <c:spPr>
            <a:solidFill>
              <a:srgbClr val="E0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</c:scaling>
        <c:delete val="0"/>
        <c:axPos val="l"/>
        <c:majorGridlines>
          <c:spPr>
            <a:ln w="6350" cap="flat">
              <a:solidFill>
                <a:srgbClr val="D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23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To'g'ri</c:v>
                </c:pt>
              </c:strCache>
            </c:strRef>
          </c:tx>
          <c:spPr>
            <a:solidFill>
              <a:srgbClr val="145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31</c:v>
                </c:pt>
                <c:pt idx="2">
                  <c:v>27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Uzilgan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Ko'rinmaydi</c:v>
                </c:pt>
              </c:strCache>
            </c:strRef>
          </c:tx>
          <c:spPr>
            <a:solidFill>
              <a:srgbClr val="E0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0"/>
        <c:axPos val="l"/>
        <c:majorGridlines>
          <c:spPr>
            <a:ln w="6350" cap="flat">
              <a:solidFill>
                <a:srgbClr val="D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23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To'g'ri</c:v>
                </c:pt>
              </c:strCache>
            </c:strRef>
          </c:tx>
          <c:spPr>
            <a:solidFill>
              <a:srgbClr val="145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28</c:v>
                </c:pt>
                <c:pt idx="2">
                  <c:v>23</c:v>
                </c:pt>
                <c:pt idx="3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Uzilgan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Ko'rinmaydi</c:v>
                </c:pt>
              </c:strCache>
            </c:strRef>
          </c:tx>
          <c:spPr>
            <a:solidFill>
              <a:srgbClr val="E0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</c:scaling>
        <c:delete val="0"/>
        <c:axPos val="l"/>
        <c:majorGridlines>
          <c:spPr>
            <a:ln w="6350" cap="flat">
              <a:solidFill>
                <a:srgbClr val="D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23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Iyul – sentabr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O'quvchilar bilan ishlash tajribasi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Kimyo: sxemalar, 80/20 usuli, olimpiada va Milliy Sertifikat, botlar va o'tish nuqtalari tahlili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O'quvchilar bilan kuniga deyarli 8 soat shug'ullanildi</a:t>
            </a:r>
            <a:endParaRPr lang="en-US" sz="1500" dirty="0"/>
          </a:p>
        </p:txBody>
      </p:sp>
      <p:sp>
        <p:nvSpPr>
          <p:cNvPr id="6" name="Rasm ramkasi"/>
          <p:cNvSpPr/>
          <p:nvPr/>
        </p:nvSpPr>
        <p:spPr>
          <a:xfrm>
            <a:off x="5486400" y="54864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pic>
        <p:nvPicPr>
          <p:cNvPr id="7" name="Image 0" descr="Etilen olish qurilma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10121"/>
            <a:ext cx="2926080" cy="2700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 tizimi bir qarashda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ka doirasi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5" name="Image 0" descr="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Jadvalli savollar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Mavzular jadval ko'rinishida tayyorlandi</a:t>
            </a:r>
            <a:endParaRPr lang="en-US" sz="1200" dirty="0"/>
          </a:p>
        </p:txBody>
      </p:sp>
      <p:sp>
        <p:nvSpPr>
          <p:cNvPr id="8" name="Karta"/>
          <p:cNvSpPr/>
          <p:nvPr/>
        </p:nvSpPr>
        <p:spPr>
          <a:xfrm>
            <a:off x="32918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ka doirasi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0" name="Image 1" descr="pro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5270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sxemalari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mega sxema, 98 ta noma'lum</a:t>
            </a:r>
            <a:endParaRPr lang="en-US" sz="1200" dirty="0"/>
          </a:p>
        </p:txBody>
      </p:sp>
      <p:sp>
        <p:nvSpPr>
          <p:cNvPr id="13" name="Karta"/>
          <p:cNvSpPr/>
          <p:nvPr/>
        </p:nvSpPr>
        <p:spPr>
          <a:xfrm>
            <a:off x="60350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ka doirasi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5" name="Image 2" descr="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270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usuli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Uyga vazifaning 80% oldin ishlangan, 20% fikrlatadigan</a:t>
            </a:r>
            <a:endParaRPr lang="en-US" sz="1200" dirty="0"/>
          </a:p>
        </p:txBody>
      </p:sp>
      <p:sp>
        <p:nvSpPr>
          <p:cNvPr id="18" name="Karta"/>
          <p:cNvSpPr/>
          <p:nvPr/>
        </p:nvSpPr>
        <p:spPr>
          <a:xfrm>
            <a:off x="5486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ka doirasi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0" name="Image 3" descr="troph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va darslik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1-daraja savollari maktab ma'lumotlari bilan</a:t>
            </a:r>
            <a:endParaRPr lang="en-US" sz="1200" dirty="0"/>
          </a:p>
        </p:txBody>
      </p:sp>
      <p:sp>
        <p:nvSpPr>
          <p:cNvPr id="23" name="Karta"/>
          <p:cNvSpPr/>
          <p:nvPr/>
        </p:nvSpPr>
        <p:spPr>
          <a:xfrm>
            <a:off x="32918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konka doirasi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5" name="Image 4" descr="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35584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747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kitoblari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misol tushuntirilib, analog bilan mustahkamlandi</a:t>
            </a:r>
            <a:endParaRPr lang="en-US" sz="1200" dirty="0"/>
          </a:p>
        </p:txBody>
      </p:sp>
      <p:sp>
        <p:nvSpPr>
          <p:cNvPr id="28" name="Karta"/>
          <p:cNvSpPr/>
          <p:nvPr/>
        </p:nvSpPr>
        <p:spPr>
          <a:xfrm>
            <a:off x="60350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konka doirasi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30" name="Image 5" descr="b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5584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bot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Rasch model boti va 1 soniyalik tekshiruvchi bot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Organika: kislorodli birikmalar mega sxemasi</a:t>
            </a:r>
            <a:endParaRPr lang="en-US" sz="2800" dirty="0"/>
          </a:p>
        </p:txBody>
      </p:sp>
      <p:graphicFrame>
        <p:nvGraphicFramePr>
          <p:cNvPr id="4" name="Sxemalar jadval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212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Sxema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Mavzu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Topiladigan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Spirt markazda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X₁–X₈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atomli spirtlar: olinishi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X₉–X₂₀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atomli spirtlar: xossalari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X₂₁–X₃₄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Ko'p atomli spirtlar, glitserin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X₃₅–X₄₆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Oddiy efirlar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X₄₇–X₅₄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Fenollar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X₅₅–X₆₈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Aldegid va ketonlar: olinishi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X₆₉–X₈₀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Aldegid va ketonlar: xossalari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X₈₁–X₉₈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</a:tbl>
          </a:graphicData>
        </a:graphic>
      </p:graphicFrame>
      <p:sp>
        <p:nvSpPr>
          <p:cNvPr id="4" name="Karta"/>
          <p:cNvSpPr/>
          <p:nvPr/>
        </p:nvSpPr>
        <p:spPr>
          <a:xfrm>
            <a:off x="6035040" y="118872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konka doirasi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6" name="Image 0" descr="fl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1481328"/>
            <a:ext cx="283464" cy="2834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Spirt markazda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24231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Spirt barcha kislorodli birikmalarning tugun nuqtasi: undan efir, aldegid, ester, alken va galogenli hosilaga yo'l bor.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1-sxema: spirt markazda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X₁–X₈ mahsulotlarini topish</a:t>
            </a:r>
            <a:endParaRPr lang="en-US" sz="1300" dirty="0"/>
          </a:p>
        </p:txBody>
      </p:sp>
      <p:sp>
        <p:nvSpPr>
          <p:cNvPr id="4" name="Karta"/>
          <p:cNvSpPr/>
          <p:nvPr/>
        </p:nvSpPr>
        <p:spPr>
          <a:xfrm>
            <a:off x="54864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arta"/>
          <p:cNvSpPr/>
          <p:nvPr/>
        </p:nvSpPr>
        <p:spPr>
          <a:xfrm>
            <a:off x="461772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Spirtga olib boradigan yo'llar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C₂H₅Cl + KOH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(suvda)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CH₂=CH₂ + 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3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Spirtdan boradigan reaksiyalar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Na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PCl₅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galogenli hosila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HBr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bromli hosila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Spirtdan boradigan reaksiyalar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C₂H₅OH, H₂SO₄, t &gt; 140°C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alken (X₄)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C₂H₅OH, H₂SO₄, t &lt; 140°C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efir (X₅)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CuO, t°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aldegid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CH₃COOH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 efir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3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Uchta sifat reaksiyasi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atomli spirt + Cu(OH)₂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yorqin ko'k eritma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Fenol + FeCl₃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binafsha rang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Aldegid + Ag₂O (NH₃)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kumush ko'zgu</a:t>
            </a:r>
            <a:endParaRPr lang="en-US" sz="1300" dirty="0"/>
          </a:p>
        </p:txBody>
      </p:sp>
      <p:sp>
        <p:nvSpPr>
          <p:cNvPr id="8" name="Qoida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140°C qoidasi: spirt H₂SO₄ bilan qizdirilganda 140°C dan yuqorida molekula ichidan suv ajraladi va alken hosil bo'ladi. 140°C dan pastda ikki molekula orasidan suv ajraladi va oddiy efir hosil bo'ladi. Ketonlar Ag₂O va Cu(OH)₂ bilan oksidlanmaydi, aldegiddan farqi shu.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2-sxema: bir atomli spirtlar, olinishi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X₉–X₂₀: umumiy va xususiy usullar</a:t>
            </a:r>
            <a:endParaRPr lang="en-US" sz="1300" dirty="0"/>
          </a:p>
        </p:txBody>
      </p:sp>
      <p:sp>
        <p:nvSpPr>
          <p:cNvPr id="4" name="Karta"/>
          <p:cNvSpPr/>
          <p:nvPr/>
        </p:nvSpPr>
        <p:spPr>
          <a:xfrm>
            <a:off x="54864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arta"/>
          <p:cNvSpPr/>
          <p:nvPr/>
        </p:nvSpPr>
        <p:spPr>
          <a:xfrm>
            <a:off x="461772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usullar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C₂H₅Cl + KOH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 + KCl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(suvda, gidroliz)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CH₂=CH₂ + 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X₁₀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CH₃-CH=CH₂ + 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X₁₁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(Markovnikov)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+ H₂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X₁₂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CH₃-CO-CH₃ + H₂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X₁₃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CH₃COOC₂H₅ + 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X₁₄ + CH₃COOH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(gidroliz)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 usullar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+ 2H₂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X₁₅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(ZnO, Cr₂O₃, t°)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Yog'ochni quruq haydash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X₁₆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(C₆H₁₀O₅)ₙ + nH₂O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X₁₇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(diastaza)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C₁₂H₂₂O₁₁ + 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X₁₈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(gidroliz)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C₆H₁₂O₆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X₁₉ + 2CO₂↑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(zimaza)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CH₃COOCH₃ + NaOH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X₂₀ + CH₃COONa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(sovunlanish)</a:t>
            </a:r>
            <a:endParaRPr lang="en-US" sz="1300" dirty="0"/>
          </a:p>
        </p:txBody>
      </p:sp>
      <p:sp>
        <p:nvSpPr>
          <p:cNvPr id="8" name="Qoida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Istisno: alkenga suv birikkanda faqat etilendan birlamchi spirt hosil bo'ladi. Qaytarish qoidasi: aldegid birlamchi, keton ikkilamchi spirt beradi. Metanol yog'och spirti, etanol gidroliz spirti.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3-sxema: bir atomli spirtlar, xossalari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X₂₁–X₃₄: reaksiyalar 4 guruhga bo'lingan</a:t>
            </a:r>
            <a:endParaRPr lang="en-US" sz="1300" dirty="0"/>
          </a:p>
        </p:txBody>
      </p:sp>
      <p:sp>
        <p:nvSpPr>
          <p:cNvPr id="4" name="Karta"/>
          <p:cNvSpPr/>
          <p:nvPr/>
        </p:nvSpPr>
        <p:spPr>
          <a:xfrm>
            <a:off x="54864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arta"/>
          <p:cNvSpPr/>
          <p:nvPr/>
        </p:nvSpPr>
        <p:spPr>
          <a:xfrm>
            <a:off x="461772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−H hisobiga (gidroksil guruhi)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2C₂H₅OH + 2Na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X₂₁ + H₂↑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2C₃H₇OH + Ca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X₂₂ + H₂↑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NaOH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X₂₃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(ishqor)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C₃H₇COOH + C₄H₉OH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X₂₄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3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−OH hisobiga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PCl₅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X₂₅ + POCl₃ + HCl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3C₂H₅OH + PBr₃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X₂₆ + P(OH)₃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SOCl₂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X₂₇ + SO₂ + HCl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HBr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X₂₈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Degidratlanish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X₂₉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 &gt; 140°C)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2C₂H₅OH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X₃₀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 &lt; 140°C)</a:t>
            </a:r>
            <a:endParaRPr lang="en-US" sz="13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Oksidlanish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CH₃CH₂OH + CuO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X₃₁ + Cu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(birlamchi)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CH₃-CHOH-CH₃ + CuO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X₃₂ + Cu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(ikkilamchi)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(CH₃)₃C-OH + CuO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X₃₃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(uchlamchi)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+ 3O₂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X₃₄ + 3H₂O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(yonish)</a:t>
            </a:r>
            <a:endParaRPr lang="en-US" sz="1300" dirty="0"/>
          </a:p>
        </p:txBody>
      </p:sp>
      <p:sp>
        <p:nvSpPr>
          <p:cNvPr id="8" name="Qoida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Spirtlar indikator rangini o'zgartirmaydi. Bir atomli spirtlar ishqor bilan reaksiyaga kirishmaydi (X₂₃), shu belgi ularni ko'p atomli spirt va fenoldan ajratadi. Oksidlanish: birlamchi aldegidga, ikkilamchi ketonga o'tadi, uchlamchi oksidlanmaydi.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4-sxema: ko'p atomli spirtlar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X₃₅–X₄₆: glikollar va glitserin</a:t>
            </a:r>
            <a:endParaRPr lang="en-US" sz="1300" dirty="0"/>
          </a:p>
        </p:txBody>
      </p:sp>
      <p:sp>
        <p:nvSpPr>
          <p:cNvPr id="4" name="Karta"/>
          <p:cNvSpPr/>
          <p:nvPr/>
        </p:nvSpPr>
        <p:spPr>
          <a:xfrm>
            <a:off x="54864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arta"/>
          <p:cNvSpPr/>
          <p:nvPr/>
        </p:nvSpPr>
        <p:spPr>
          <a:xfrm>
            <a:off x="461772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Olinishi (glikollar)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CH₂Cl-CH₂Cl + 2KOH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X₃₅ + 2KCl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(suvda, Vyurs 1856)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CH₂=CH₂ + KMnO₄ + 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X₃₆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(Vagner)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C₂H₄O (epoksid) + H₂O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X₃₇</a:t>
            </a:r>
            <a:endParaRPr lang="en-US" sz="13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Glitserin, propilendan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CH₂=CH-CH₃ + Cl₂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X₃₈ + HCl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(600°C)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2CH₂=CH-CH₂Cl + Ca(OH)₂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X₃₉ + CaCl₂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CH₂=CH-CH₂OH + [O]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Kimyoviy xossalari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CH₂OH-CH₂OH + 2Na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X₄₁ + H₂↑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CH₂OH-CH₂OH + Cu(OH)₂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X₄₂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(sifat reaksiyasi)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Glitserin + 3HNO₃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X₄₃ + 3H₂O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Glitserin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X₄₄ + 2H₂O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(KHSO₄, t &gt; 140°C)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2CH₂OH-CH₂OH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X₄₅ + 2H₂O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 &lt; 140°C, Favorskiy)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CH₂OH-CH₂OH + 2NaOH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X₄₆ + 2H₂O</a:t>
            </a:r>
            <a:endParaRPr lang="en-US" sz="1300" dirty="0"/>
          </a:p>
        </p:txBody>
      </p:sp>
      <p:sp>
        <p:nvSpPr>
          <p:cNvPr id="8" name="Qoida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atomli spirtlar bir atomlilarga xos reaksiyalarga bosqichma-bosqich kirishadi. Ikki farq: ular ishqor bilan reaksiyaga kirishadi (X₄₆) va Cu(OH)₂ bilan yorqin ko'k kompleks beradi (X₄₂), bu ularning sifat reaksiyasi.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5-sxema: oddiy efirlar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X₄₇–X₅₄: olinishi va xossalari</a:t>
            </a:r>
            <a:endParaRPr lang="en-US" sz="1300" dirty="0"/>
          </a:p>
        </p:txBody>
      </p:sp>
      <p:sp>
        <p:nvSpPr>
          <p:cNvPr id="4" name="Karta"/>
          <p:cNvSpPr/>
          <p:nvPr/>
        </p:nvSpPr>
        <p:spPr>
          <a:xfrm>
            <a:off x="54864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arta"/>
          <p:cNvSpPr/>
          <p:nvPr/>
        </p:nvSpPr>
        <p:spPr>
          <a:xfrm>
            <a:off x="461772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Olinish usullari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2C₂H₅OH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X₄₇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(H₂SO₄, t &lt; 140°C)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C₂H₅OK + CH₃I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X₄₈ + KI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2CH₃Br + Ag₂O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X₄₉ + 2AgBr↓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2C₂H₅I + Ag₂O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X₅₀ + 2AgI↓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Xossalari: faqat qizdirilganda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C₂H₅-O-C₂H₅ + HI (k)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X₅₁ + C₂H₅I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(Sezel usuli)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C₂H₅-O-C₂H₅ + 2Na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X₅₂ + C₂H₅Na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(yuqori t°)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C₂H₅-O-C₂H₅ + C₂H₅Na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X₅₃ + C₂H₅ONa + C₂H₆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(efir ortiqcha)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C₂H₅-O-C₂H₅ + Na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X₅₄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(oddiy sharoit)</a:t>
            </a:r>
            <a:endParaRPr lang="en-US" sz="1300" dirty="0"/>
          </a:p>
        </p:txBody>
      </p:sp>
      <p:sp>
        <p:nvSpPr>
          <p:cNvPr id="8" name="Qoida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efirlar odatdagi sharoitda inert, shuning uchun erituvchi sifatida ishlatiladi; natriy bilan oddiy sharoitda reaksiyaga kirishmaydi (X₅₄). Sezel usuli metoksi va etoksi guruhlarni aniqlashda ishlatiladi. Ikki xil spirt aralashmasi degidratlansa, 3 xil oddiy efir hosil bo'ladi.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6-sxema: fenollar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X₅₅–X₆₈: olinishi, kislotaligi, halqa reaksiyalari</a:t>
            </a:r>
            <a:endParaRPr lang="en-US" sz="1300" dirty="0"/>
          </a:p>
        </p:txBody>
      </p:sp>
      <p:sp>
        <p:nvSpPr>
          <p:cNvPr id="4" name="Karta"/>
          <p:cNvSpPr/>
          <p:nvPr/>
        </p:nvSpPr>
        <p:spPr>
          <a:xfrm>
            <a:off x="54864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arta"/>
          <p:cNvSpPr/>
          <p:nvPr/>
        </p:nvSpPr>
        <p:spPr>
          <a:xfrm>
            <a:off x="461772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Olinishi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C₆H₅Cl + NaOH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X₅₅ + NaCl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(t°, bosim)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C₆H₅SO₃Na + 2NaOH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X₅₆ + Na₂SO₃ + H₂O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Kumol + O₂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X₅₇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(kumol usuli)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Kumol gidroperoksidi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X₅₈ + aseton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3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Kislotalarga xos reaksiyalar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2C₆H₅OH + 2Na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X₅₉ + H₂↑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C₆H₅OH + NaOH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X₆₀ + H₂O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Na₂CO₃ + C₆H₅OH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X₆₁ + NaHCO₃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NaHCO₃ + C₆H₅OH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C₆H₅OH + FeCl₃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X₆₃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(sifat reaksiyasi)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2C₆H₅OH + Ca(OH)₂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X₆₄ + 2H₂O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Benzol halqasiga xos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C₆H₅OH + 3Br₂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X₆₅ + 3HBr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(bromli suv)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C₆H₅OH + 3HNO₃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X₆₆ + 3H₂O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(H₂SO₄)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C₆H₅ONa + CO₂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X₆₇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(Kolbe)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nC₆H₅OH + nHCHO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X₆₈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(fenol ortiqcha)</a:t>
            </a:r>
            <a:endParaRPr lang="en-US" sz="1200" dirty="0"/>
          </a:p>
        </p:txBody>
      </p:sp>
      <p:sp>
        <p:nvSpPr>
          <p:cNvPr id="8" name="Qoida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Tuzoq: fenol Na₂CO₃ bilan reaksiyaga kirishadi (X₆₁), lekin NaHCO₃ bilan kirishmaydi (X₆₂), chunki H₂CO₃ fenoldan kuchli kislota. Polikondensatlanish: fenol ortiqcha bo'lsa novolak, HCHO ortiqcha bo'lsa rezol, rezolni qizdirsak qattiq rezit.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7-sxema: aldegid va ketonlar, olinishi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X₆₉–X₈₀: umumiy va xususiy usullar</a:t>
            </a:r>
            <a:endParaRPr lang="en-US" sz="1300" dirty="0"/>
          </a:p>
        </p:txBody>
      </p:sp>
      <p:sp>
        <p:nvSpPr>
          <p:cNvPr id="4" name="Karta"/>
          <p:cNvSpPr/>
          <p:nvPr/>
        </p:nvSpPr>
        <p:spPr>
          <a:xfrm>
            <a:off x="54864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arta"/>
          <p:cNvSpPr/>
          <p:nvPr/>
        </p:nvSpPr>
        <p:spPr>
          <a:xfrm>
            <a:off x="461772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usullar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CH₃CH₂OH + CuO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X₆₉ + Cu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(gaz fazada)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CH₃-CHOH-CH₃ + [O]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X₇₀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(K₂Cr₂O₇, suyuq faza)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C₂H₅OH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X₇₁ + H₂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(Zn/Cu, t°)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CH₃-CHCl₂ + 2KOH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X₇₂ + 2KCl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(suvda)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CH≡CH + 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X₇₃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(Kucherov)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CH₃-C≡CH + H₂O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X₇₄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(Kucherov)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(CH₃COO)₂Ca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X₇₅ + CaCO₃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(quruq haydash)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(HCOO)₂Ca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X₇₆ + CaCO₃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(quruq haydash)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2CH₃COOH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X₇₇ + CO₂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(MgO, t°)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CH₃CH₂COOH + CH₃COOH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X₇₈ + CO₂ + 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(CaO, t°)</a:t>
            </a:r>
            <a:endParaRPr lang="en-US" sz="12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 usullar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2CH₂=CH₂ + O₂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X₇₉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(PdCl₂, Vakker)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CH₃COCl + H₂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X₈₀ + HCl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(Pd)</a:t>
            </a:r>
            <a:endParaRPr lang="en-US" sz="1200" dirty="0"/>
          </a:p>
        </p:txBody>
      </p:sp>
      <p:sp>
        <p:nvSpPr>
          <p:cNvPr id="8" name="Qoida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Birlamchi spirtdan aldegid, ikkilamchi spirtdan keton olinadi. Kucherov reaksiyasida faqat asetilendan aldegid, boshqa alkinlardan keton hosil bo'ladi. Karbon kislota tuzlari pirolizida chumoli kislota tuzidan aldegid, boshqalaridan keton chiqadi; ikki xil tuzdan aralash keton.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8-sxema: aldegid va ketonlar, xossalari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X₈₁–X₉₈: karbonil guruhi, oksidlanish, xususiy reaksiyalar</a:t>
            </a:r>
            <a:endParaRPr lang="en-US" sz="1300" dirty="0"/>
          </a:p>
        </p:txBody>
      </p:sp>
      <p:sp>
        <p:nvSpPr>
          <p:cNvPr id="4" name="Karta"/>
          <p:cNvSpPr/>
          <p:nvPr/>
        </p:nvSpPr>
        <p:spPr>
          <a:xfrm>
            <a:off x="54864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arta"/>
          <p:cNvSpPr/>
          <p:nvPr/>
        </p:nvSpPr>
        <p:spPr>
          <a:xfrm>
            <a:off x="4617720" y="1188720"/>
            <a:ext cx="39776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Karbonil guruhiga xos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/ CH₃-CO-CH₃ + H₂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X₈₁ / X₈₂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(Ni)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+ C₂H₅OH (+ yana)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X₈₃ / X₈₄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(atsetal)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+ HCN / NH₃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X₈₅ / X₈₆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+ NH₂OH / N₂H₄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X₈₇ / X₈₈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+ PCl₅ / NaHSO₃ →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X₈₉ / X₉₀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Oksidlanish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+ Ag₂O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X₉₁ + 2Ag↓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(NH₃, kumush ko'zgu)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+ 2Cu(OH)₂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X₉₂ + Cu₂O↓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(t°)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CH₃-CO-CH₃ + Ag₂O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X₉₃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(keton)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CH₃-CO-C₂H₅ + [O]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X₉₄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(KMnO₄, Popov)</a:t>
            </a:r>
            <a:endParaRPr lang="en-US" sz="1300" dirty="0"/>
          </a:p>
          <a:p>
            <a:pPr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α-vodorod va xususiy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CH₃CHO + Cl₂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X₉₅ + HCl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(α-galogenlash)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2CH₃CHO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X₉₆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(ishqor, aldol)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2HCHO + KOH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X₉₇ + HCOOK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(Kannitsaro)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6HCHO + 4NH₃ → </a:t>
            </a:r>
            <a:pPr indent="0" marL="0">
              <a:buNone/>
            </a:pPr>
            <a:r>
              <a:rPr lang="en-US" sz="12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X₉₈ + 6H₂O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(urotropin)</a:t>
            </a:r>
            <a:endParaRPr lang="en-US" sz="1300" dirty="0"/>
          </a:p>
        </p:txBody>
      </p:sp>
      <p:sp>
        <p:nvSpPr>
          <p:cNvPr id="8" name="Qoida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Popov qoidasi: ketonlar Ag₂O va Cu(OH)₂ bilan oksidlanmaydi (X₉₃); faqat KMnO₄, K₂Cr₂O₇, CrO₃ ta'sirida karbonil guruhi yonidan uzilib, kislotalar aralashmasi beradi. NaHSO₃ faqat aldegid va metilketonlar bilan ta'sirlashadi. α-galogenlangan birikmalar ko'zni yoshlantiradi.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vazifa: 80/20 usuli</a:t>
            </a:r>
            <a:endParaRPr lang="en-US" sz="2800" dirty="0"/>
          </a:p>
        </p:txBody>
      </p:sp>
      <p:sp>
        <p:nvSpPr>
          <p:cNvPr id="3" name="80 foiz"/>
          <p:cNvSpPr/>
          <p:nvPr/>
        </p:nvSpPr>
        <p:spPr>
          <a:xfrm>
            <a:off x="548640" y="1188720"/>
            <a:ext cx="6437376" cy="914400"/>
          </a:xfrm>
          <a:prstGeom prst="rect">
            <a:avLst/>
          </a:prstGeom>
          <a:solidFill>
            <a:srgbClr val="145A44"/>
          </a:solidFill>
          <a:ln/>
        </p:spPr>
      </p:sp>
      <p:sp>
        <p:nvSpPr>
          <p:cNvPr id="4" name="20 foiz"/>
          <p:cNvSpPr/>
          <p:nvPr/>
        </p:nvSpPr>
        <p:spPr>
          <a:xfrm>
            <a:off x="6986016" y="1188720"/>
            <a:ext cx="1609344" cy="914400"/>
          </a:xfrm>
          <a:prstGeom prst="rect">
            <a:avLst/>
          </a:prstGeom>
          <a:solidFill>
            <a:srgbClr val="2ED3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986016" y="11887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200" dirty="0"/>
          </a:p>
        </p:txBody>
      </p:sp>
      <p:sp>
        <p:nvSpPr>
          <p:cNvPr id="7" name="Karta"/>
          <p:cNvSpPr/>
          <p:nvPr/>
        </p:nvSpPr>
        <p:spPr>
          <a:xfrm>
            <a:off x="548640" y="23774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 ishlangan masalalar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masalaning 80% i oldin ishlangan turda. O'quvchi usulni mustahkamlaydi.</a:t>
            </a:r>
            <a:endParaRPr lang="en-US" sz="1400" dirty="0"/>
          </a:p>
        </p:txBody>
      </p:sp>
      <p:sp>
        <p:nvSpPr>
          <p:cNvPr id="10" name="Karta"/>
          <p:cNvSpPr/>
          <p:nvPr/>
        </p:nvSpPr>
        <p:spPr>
          <a:xfrm>
            <a:off x="4663440" y="23774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Fikrlatadigan misol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masalaning 20% i fikrlatadigan: o'quvchi bilgan usulini yangi sharoitda qo'llaydi.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oleum bo'yicha 20 ta topshiriq to'plami, eritmalar va massa ulushi mavzusida (keyingi slaydlarda).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Oleum masalalari: 20 ta topshiriq turlari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Neytrallash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Masalalar: 1, 2, 9, 10, 16, 17, 19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Oleum NaOH yoki KOH bilan neytrallanadi: formula, massa va hosil bo'lgan tuz yoki suv topiladi.</a:t>
            </a:r>
            <a:endParaRPr lang="en-US" sz="1300" dirty="0"/>
          </a:p>
        </p:txBody>
      </p:sp>
      <p:sp>
        <p:nvSpPr>
          <p:cNvPr id="7" name="Karta"/>
          <p:cNvSpPr/>
          <p:nvPr/>
        </p:nvSpPr>
        <p:spPr>
          <a:xfrm>
            <a:off x="4663440" y="11887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Konsentratsiya va aralashtirish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Masalalar: 3–8, 11, 12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Kislota yoki suv bilan aralashtirish, suyultirish, 100% li kislotaga o'tkazish.</a:t>
            </a:r>
            <a:endParaRPr lang="en-US" sz="1300" dirty="0"/>
          </a:p>
        </p:txBody>
      </p:sp>
      <p:sp>
        <p:nvSpPr>
          <p:cNvPr id="11" name="Karta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3081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Atomlar soni nisbati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Masalalar: 13, 14, 20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va O atomlari nisbatidan eritma yoki oleum formulasini topish.</a:t>
            </a:r>
            <a:endParaRPr lang="en-US" sz="1300" dirty="0"/>
          </a:p>
        </p:txBody>
      </p:sp>
      <p:sp>
        <p:nvSpPr>
          <p:cNvPr id="15" name="Karta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46320" y="3081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Zanjirli masalalar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Masalalar: 15, 18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Pirit unumi bilan oleum olish; SO₃ qo'shib erkin SO₃ : H₂SO₄ nisbatini topish.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masalada ikki qism: asosiy hisob va unga ulangan qo'shimcha savol.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Oleum masalalari: 1–5</a:t>
            </a:r>
            <a:endParaRPr lang="en-US" sz="2800" dirty="0"/>
          </a:p>
        </p:txBody>
      </p:sp>
      <p:graphicFrame>
        <p:nvGraphicFramePr>
          <p:cNvPr id="15" name="Oleum jadval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hisob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Qo'shimcha fikrlatuvchi savol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 g H₂SO₄·xSO₃ oleum 12 g NaOH bilan neytrallandi. x ni toping.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li NaOH ishlatilsa, Na₂SO₄ ning massa ulushi?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H₂SO₄·0,25SO₃ oleum 10 g NaOH bilan neytrallandi. Oleum massasi?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li NaOH va 38,2 g suv qo'shilsa, Na₂SO₄ massa ulushi?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li kislota uchun 270 g suvga H₂SO₄·0,5SO₃ oleumdan necha g qo'shiladi?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Unga 100 g 10% li NaOH qo'shilsa, kislota massa ulushi?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 g 40% li eritmaga 1180 g H₂SO₄·xSO₃ qo'shilib 90% li eritma olindi. x ni toping.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494 g suv qo'shilsa, kislota konsentratsiyasi?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g 20% li eritmaga 138 g H₂SO₄·xSO₃ qo'shilib 80% li eritma olindi. x ni toping.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mol/l KOH dan necha litr neytrallashga ketadi?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Oleum masalalari: 6–10</a:t>
            </a:r>
            <a:endParaRPr lang="en-US" sz="2800" dirty="0"/>
          </a:p>
        </p:txBody>
      </p:sp>
      <p:graphicFrame>
        <p:nvGraphicFramePr>
          <p:cNvPr id="16" name="Oleum jadval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hisob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Qo'shimcha fikrlatuvchi savol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g 50% li H₂SO₄ ga 138 g H₂SO₄·0,5SO₃ qo'shildi. Konsentratsiyani toping.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gacha suyultirish uchun necha g suv kerak?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g 82% li kislotaga 200 g SO₃ shimdirildi. Oleumda erkin SO₃ foizi?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li H₂SO₄ ga aylantirish uchun necha g suv kerak?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g 31% li kislotaga 200 g oleum qo'shilib 80% li eritma hosil bo'ldi. Oleumda SO₃ ulushi?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Eritma 500 g 20% li BaCl₂ bilan aralashsa, necha g cho'kma?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SO₃·2H₂SO₄ oleum 160 ml (1,25 g/ml) 37% li eritmada eritilib 50% li eritma olindi. Shu oleumni neytrallashga 2 M KOH hajmi?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Hosil bo'lgan tuz 500 g suvda eritilsa, massa ulushi?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2SO₃·3H₂SO₄ oleum 526 ml suvda eritilib 50% li eritma olindi. Neytrallashga 4 M KOH hajmi?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Neytrallashda hosil bo'lgan suv massasi?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Oleum masalalari: 11–15</a:t>
            </a:r>
            <a:endParaRPr lang="en-US" sz="2800" dirty="0"/>
          </a:p>
        </p:txBody>
      </p:sp>
      <p:graphicFrame>
        <p:nvGraphicFramePr>
          <p:cNvPr id="17" name="Oleum jadval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hisob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Qo'shimcha fikrlatuvchi savol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ml (1,225 g/ml) 50% li kislota uchun H₂SO₄·0,25SO₃ oleum massasi?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Olingan toza suvdagi jami elektronlar soni (mol)?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g oleum 125 ml 25% li NaOH (1,28 g/ml) bilan neytrallandi. 138 g oleumga 50% li eritma uchun 25% li kislotadan necha ml (1,2 g/ml) qo'shiladi?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Oxirgi eritmaga 140 g suv qo'shilsa, konsentratsiya?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g H₂SO₄·SO₃ ga O va H atomlari soni teng bo'lguncha suv qo'shildi. Kislorod atomlari soni?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Kislotaning massa ulushi?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g oleumga 72 g suv qo'shilib, H : O = 4 : 3 bo'ldi. Oleum formulasi?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To'liq eritilgach kislotaning molyar konsentratsiyasi (1,15 g/ml)?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g pirit 80% unum bilan oksidlandi, gaz 75% unum bilan oksidlandi, H₂SO₄·nSO₃ oleum piritdan 6,6 g kam. n ni toping.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Unum 100% bo'lsa, shu suv bilan qanday n li oleum olinadi?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Oleum masalalari: 16–20</a:t>
            </a:r>
            <a:endParaRPr lang="en-US" sz="2800" dirty="0"/>
          </a:p>
        </p:txBody>
      </p:sp>
      <p:graphicFrame>
        <p:nvGraphicFramePr>
          <p:cNvPr id="18" name="Oleum jadval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hisob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Qo'shimcha fikrlatuvchi savol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Oleumga 320 ml (1,25 g/ml) 30% li NaOH, so'ng 200 g 24,5% li H₂SO₄ qo'shilib 692 g neytral eritma olindi. Oleum formulasi?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Oxirgi eritmada Na₂SO₄ massa ulushi?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Oleumni neytrallashga SO₃ massasidan 4,9 marta og'ir KOH sarflandi. Oleum tarkibi?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 g oleumda hosil bo'lgan suv massasi?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28,5 g xH₂SO₄·ySO₃ ga 16 g SO₃ qo'shilib erkin SO₃ : H₂SO₄ = 1 : 1 bo'ldi. Dastlabki formula?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Qayta ishlashga 10% li NaOH (1,1 g/ml) hajmi?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H₂SO₄·0,5SO₃ ning 0,5 mol ini neytrallashga KOH massasi?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Reaksiyadagi barcha moddalardagi kislorod atomlari (mol)?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: O = 1 : 1 bo'lgan kislota eritmasining (1,34 g/ml) qancha ml iga SO₃ qo'shilsa 414 g H₂SO₄·0,5SO₃ oleum olinadi?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Oleum 500 g suvga quyilsa, eritma konsentratsiyasi?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Olimpiadadan maktab darsligiga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37160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ka doirasi"/>
          <p:cNvSpPr/>
          <p:nvPr/>
        </p:nvSpPr>
        <p:spPr>
          <a:xfrm>
            <a:off x="1234440" y="155448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5" name="Image 0" descr="tro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66420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kitoblari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1-darajali savollar tanlanadi</a:t>
            </a:r>
            <a:endParaRPr lang="en-US" sz="1200" dirty="0"/>
          </a:p>
        </p:txBody>
      </p:sp>
      <p:sp>
        <p:nvSpPr>
          <p:cNvPr id="8" name="Strelka"/>
          <p:cNvSpPr/>
          <p:nvPr/>
        </p:nvSpPr>
        <p:spPr>
          <a:xfrm>
            <a:off x="2441448" y="2331720"/>
            <a:ext cx="182880" cy="274320"/>
          </a:xfrm>
          <a:prstGeom prst="rightArrow">
            <a:avLst/>
          </a:prstGeom>
          <a:solidFill>
            <a:srgbClr val="145A44"/>
          </a:solidFill>
          <a:ln/>
        </p:spPr>
      </p:sp>
      <p:sp>
        <p:nvSpPr>
          <p:cNvPr id="9" name="Karta"/>
          <p:cNvSpPr/>
          <p:nvPr/>
        </p:nvSpPr>
        <p:spPr>
          <a:xfrm>
            <a:off x="2651760" y="137160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konka doirasi"/>
          <p:cNvSpPr/>
          <p:nvPr/>
        </p:nvSpPr>
        <p:spPr>
          <a:xfrm>
            <a:off x="3337560" y="155448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1" name="Image 1" descr="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66420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Darslik ma'lumotlari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darsligidagi faktlar o'rgatiladi</a:t>
            </a:r>
            <a:endParaRPr lang="en-US" sz="1200" dirty="0"/>
          </a:p>
        </p:txBody>
      </p:sp>
      <p:sp>
        <p:nvSpPr>
          <p:cNvPr id="14" name="Strelka"/>
          <p:cNvSpPr/>
          <p:nvPr/>
        </p:nvSpPr>
        <p:spPr>
          <a:xfrm>
            <a:off x="4544568" y="2331720"/>
            <a:ext cx="182880" cy="274320"/>
          </a:xfrm>
          <a:prstGeom prst="rightArrow">
            <a:avLst/>
          </a:prstGeom>
          <a:solidFill>
            <a:srgbClr val="145A44"/>
          </a:solidFill>
          <a:ln/>
        </p:spPr>
      </p:sp>
      <p:sp>
        <p:nvSpPr>
          <p:cNvPr id="15" name="Karta"/>
          <p:cNvSpPr/>
          <p:nvPr/>
        </p:nvSpPr>
        <p:spPr>
          <a:xfrm>
            <a:off x="4754880" y="137160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konka doirasi"/>
          <p:cNvSpPr/>
          <p:nvPr/>
        </p:nvSpPr>
        <p:spPr>
          <a:xfrm>
            <a:off x="5440680" y="155448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7" name="Image 2" descr="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66420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masalalar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Darslik faktlari asosida masalalar tuziladi</a:t>
            </a:r>
            <a:endParaRPr lang="en-US" sz="1200" dirty="0"/>
          </a:p>
        </p:txBody>
      </p:sp>
      <p:sp>
        <p:nvSpPr>
          <p:cNvPr id="20" name="Strelka"/>
          <p:cNvSpPr/>
          <p:nvPr/>
        </p:nvSpPr>
        <p:spPr>
          <a:xfrm>
            <a:off x="6647688" y="2331720"/>
            <a:ext cx="182880" cy="274320"/>
          </a:xfrm>
          <a:prstGeom prst="rightArrow">
            <a:avLst/>
          </a:prstGeom>
          <a:solidFill>
            <a:srgbClr val="145A44"/>
          </a:solidFill>
          <a:ln/>
        </p:spPr>
      </p:sp>
      <p:sp>
        <p:nvSpPr>
          <p:cNvPr id="21" name="Karta"/>
          <p:cNvSpPr/>
          <p:nvPr/>
        </p:nvSpPr>
        <p:spPr>
          <a:xfrm>
            <a:off x="6858000" y="137160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Ikonka doirasi"/>
          <p:cNvSpPr/>
          <p:nvPr/>
        </p:nvSpPr>
        <p:spPr>
          <a:xfrm>
            <a:off x="7543800" y="155448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3" name="Image 3" descr="scho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66420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O'quvchilar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darajasidagi masalani yechadi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olimpiada darajasidagi fikrlashni maktab bilimi ustiga qurish.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Milliy Sertifikat: manbalar va analoglar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18872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yil variantlari</a:t>
            </a:r>
            <a:endParaRPr lang="en-US" sz="1400" dirty="0"/>
          </a:p>
        </p:txBody>
      </p:sp>
      <p:sp>
        <p:nvSpPr>
          <p:cNvPr id="5" name="Karta"/>
          <p:cNvSpPr/>
          <p:nvPr/>
        </p:nvSpPr>
        <p:spPr>
          <a:xfrm>
            <a:off x="2176272" y="118872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221992" y="11887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Tongotarov</a:t>
            </a:r>
            <a:endParaRPr lang="en-US" sz="1400" dirty="0"/>
          </a:p>
        </p:txBody>
      </p:sp>
      <p:sp>
        <p:nvSpPr>
          <p:cNvPr id="7" name="Karta"/>
          <p:cNvSpPr/>
          <p:nvPr/>
        </p:nvSpPr>
        <p:spPr>
          <a:xfrm>
            <a:off x="3803904" y="118872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849624" y="11887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Samarqand</a:t>
            </a:r>
            <a:endParaRPr lang="en-US" sz="1400" dirty="0"/>
          </a:p>
        </p:txBody>
      </p:sp>
      <p:sp>
        <p:nvSpPr>
          <p:cNvPr id="9" name="Karta"/>
          <p:cNvSpPr/>
          <p:nvPr/>
        </p:nvSpPr>
        <p:spPr>
          <a:xfrm>
            <a:off x="5431536" y="118872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77256" y="11887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1400" dirty="0"/>
          </a:p>
        </p:txBody>
      </p:sp>
      <p:sp>
        <p:nvSpPr>
          <p:cNvPr id="11" name="Karta"/>
          <p:cNvSpPr/>
          <p:nvPr/>
        </p:nvSpPr>
        <p:spPr>
          <a:xfrm>
            <a:off x="7059168" y="118872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04888" y="11887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Shuhrat Jo'rayev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misol shunday ishlandi</a:t>
            </a:r>
            <a:endParaRPr lang="en-US" sz="1600" dirty="0"/>
          </a:p>
        </p:txBody>
      </p:sp>
      <p:sp>
        <p:nvSpPr>
          <p:cNvPr id="14" name="Qadam"/>
          <p:cNvSpPr/>
          <p:nvPr/>
        </p:nvSpPr>
        <p:spPr>
          <a:xfrm>
            <a:off x="548640" y="278892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145A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 tushuntiriladi</a:t>
            </a:r>
            <a:endParaRPr lang="en-US" sz="1500" dirty="0"/>
          </a:p>
        </p:txBody>
      </p:sp>
      <p:sp>
        <p:nvSpPr>
          <p:cNvPr id="16" name="Strelka"/>
          <p:cNvSpPr/>
          <p:nvPr/>
        </p:nvSpPr>
        <p:spPr>
          <a:xfrm>
            <a:off x="3044952" y="3017520"/>
            <a:ext cx="201168" cy="274320"/>
          </a:xfrm>
          <a:prstGeom prst="rightArrow">
            <a:avLst/>
          </a:prstGeom>
          <a:solidFill>
            <a:srgbClr val="2ED3A0"/>
          </a:solidFill>
          <a:ln/>
        </p:spPr>
      </p:sp>
      <p:sp>
        <p:nvSpPr>
          <p:cNvPr id="17" name="Qadam"/>
          <p:cNvSpPr/>
          <p:nvPr/>
        </p:nvSpPr>
        <p:spPr>
          <a:xfrm>
            <a:off x="3291840" y="278892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145A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9184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misol tuziladi</a:t>
            </a:r>
            <a:endParaRPr lang="en-US" sz="1500" dirty="0"/>
          </a:p>
        </p:txBody>
      </p:sp>
      <p:sp>
        <p:nvSpPr>
          <p:cNvPr id="19" name="Strelka"/>
          <p:cNvSpPr/>
          <p:nvPr/>
        </p:nvSpPr>
        <p:spPr>
          <a:xfrm>
            <a:off x="5788152" y="3017520"/>
            <a:ext cx="201168" cy="274320"/>
          </a:xfrm>
          <a:prstGeom prst="rightArrow">
            <a:avLst/>
          </a:prstGeom>
          <a:solidFill>
            <a:srgbClr val="2ED3A0"/>
          </a:solidFill>
          <a:ln/>
        </p:spPr>
      </p:sp>
      <p:sp>
        <p:nvSpPr>
          <p:cNvPr id="20" name="Qadam"/>
          <p:cNvSpPr/>
          <p:nvPr/>
        </p:nvSpPr>
        <p:spPr>
          <a:xfrm>
            <a:off x="6035040" y="278892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145A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analogni yechadi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vaqtgacha tushgan barcha Milliy Sertifikatlar ko'rib chiqildi va ulardan analoglar ishlatildi.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Boshlang'ich darslar: mantiqiy masalalar</a:t>
            </a:r>
            <a:endParaRPr lang="en-US" sz="2800" dirty="0"/>
          </a:p>
        </p:txBody>
      </p:sp>
      <p:sp>
        <p:nvSpPr>
          <p:cNvPr id="3" name="Statistika"/>
          <p:cNvSpPr/>
          <p:nvPr/>
        </p:nvSpPr>
        <p:spPr>
          <a:xfrm>
            <a:off x="548640" y="118872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145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20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 variant, har birida 20 ta masala, javoblar kaliti bilan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3444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Birgalikda ishlash va hovuz masalalari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yosh va yoshlar masalalari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 va chiptalar bo'yicha tenglamalar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Foiz, foyda va chegirma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Eritma, aralashma va qotishma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 masalalari: poyezd, yetib olish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Kasr qismlar, bog' yuzi, koptok sakrashi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 siqishish va sahifalash masalalari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4023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sonlar bilan tuzilgan o'xshash variantlar: o'quvchi usulni yodlamaydi, qayta qo'llaydi.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1-variant namunasi: 1–10-masala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0515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ishchi birga 8 kunda tugatadi. 1-si 3 kun, 2-si 18 kun ishlasa ish tugaydi. Har biri yakka o'zi necha kunda?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Quvurlar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Qadimiy quvur hovuzni 15, yangi quvur 10 soatda to'ldiradi. 2 ta qadimiy va 2 ta yangi birga ochilsa?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Jo'mraklar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va 15 soatda to'ldiruvchi jo'mraklar va to'la hovuzning yarmini 6 soatda bo'shatuvchi uchinchisi birga ochilsa?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O'rtacha yosh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o'quvchining o'rtacha yoshi 12. O'qituvchi bilan 13 bo'ldi. O'qituvchi yoshi?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Ota va bolalar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yoshli ota yoshi 3 bola yoshlari yig'indisidan 4 barobar ko'p. Necha yildan keyin yig'indiga teng bo'ladi?</a:t>
            </a:r>
            <a:endParaRPr lang="en-US" sz="1300" dirty="0"/>
          </a:p>
        </p:txBody>
      </p:sp>
      <p:sp>
        <p:nvSpPr>
          <p:cNvPr id="5" name="Karta"/>
          <p:cNvSpPr/>
          <p:nvPr/>
        </p:nvSpPr>
        <p:spPr>
          <a:xfrm>
            <a:off x="4663440" y="10515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00600" y="114300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Qodir: "15 dollar bersang teng bo'ladi". Sevara: "sen 15 bersang menda 2 marta ko'p". Qodirda dastlab qancha?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Chiptalar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va 5000 so'mlik chiptalardan 150 ta sotildi, 510 ming so'm tushdi. 5000 liklari nechta?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Narxlar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daftar + 3 qalam + 7 o'chirg'ich = 58 ming; 2 daftar + 4 o'chirg'ich = 22 ming. 1 + 1 + 1 necha ming?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Foyda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foyda bilan sotilayotgan buyum 20% chegirma bilan sotildi. Amaldagi foyda necha foiz?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Gazmol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 12000 so'm gazmol yuvilganda 20% qisqardi. Zarar ko'rmaslik uchun 1 metr narxi?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1-variant namunasi: 11–20-masala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0515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Aralashma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 va 3500 so'mlik guruch aralashtirilib 2800 so'mlik 100 kg hosil bo'ldi. 2500 likdan necha kg?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Eritma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l 15% li tuzli suvda tuz 20% ga yetishi uchun necha litr suv bug'lantiriladi?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Poyezd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 poyezd tezligi 20 m/s, tunnelni 30 s da to'liq o'tdi. Tunnel uzunligi?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Yetib olish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 mashinasi 50 km/soat, 2 soatdan keyin yengil avto 75 km/soat bilan chiqdi. Necha soatda yetib oladi?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Idish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Idishning 1/3 qismi to'la. 10 l suv quyilsa 1/2 qismi to'ladi. Idish hajmi?</a:t>
            </a:r>
            <a:endParaRPr lang="en-US" sz="1300" dirty="0"/>
          </a:p>
        </p:txBody>
      </p:sp>
      <p:sp>
        <p:nvSpPr>
          <p:cNvPr id="5" name="Karta"/>
          <p:cNvSpPr/>
          <p:nvPr/>
        </p:nvSpPr>
        <p:spPr>
          <a:xfrm>
            <a:off x="4663440" y="10515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00600" y="114300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Quyon va tovuq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Katakda oyoqlar 160 ta, boshlar 50 ta. Tovuqlar nechta?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Koptok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Koptok balandligining yarmigacha sakraydi. 4 sakrashdan keyin 5 sm. Dastlabki balandlik?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Bog'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Bog'ning 1/3, qolganining 1/4, qolganining 1/5 qismi dorilandi. Dorilanmagan qism 40 m². Bog' yuzi?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Qo'l siqishish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 bir-biri bilan qo'l siqishdi, jami 276 ta. Necha kishi qatnashgan?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Sahifalash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 betlarini raqamlash uchun 192 ta raqam ishlatildi. Kitob necha betdan iborat?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O'quvchilar uchun ikki bot</a:t>
            </a:r>
            <a:endParaRPr lang="en-US" sz="2800" dirty="0"/>
          </a:p>
        </p:txBody>
      </p:sp>
      <p:sp>
        <p:nvSpPr>
          <p:cNvPr id="3" name="Bot kartasi"/>
          <p:cNvSpPr/>
          <p:nvPr/>
        </p:nvSpPr>
        <p:spPr>
          <a:xfrm>
            <a:off x="54864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45A44"/>
          </a:solidFill>
          <a:ln/>
        </p:spPr>
      </p:sp>
      <p:sp>
        <p:nvSpPr>
          <p:cNvPr id="4" name="Doira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2ED3A0"/>
          </a:solidFill>
          <a:ln/>
        </p:spPr>
      </p:sp>
      <p:pic>
        <p:nvPicPr>
          <p:cNvPr id="5" name="Image 0" descr="Rasch modeldagi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Rasch modeldagi bot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darajasi va savol qiyinligini Rasch modeli bo'yicha baholaydi.</a:t>
            </a:r>
            <a:endParaRPr lang="en-US" sz="1500" dirty="0"/>
          </a:p>
        </p:txBody>
      </p:sp>
      <p:sp>
        <p:nvSpPr>
          <p:cNvPr id="8" name="Bot kartasi"/>
          <p:cNvSpPr/>
          <p:nvPr/>
        </p:nvSpPr>
        <p:spPr>
          <a:xfrm>
            <a:off x="466344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45A44"/>
          </a:solidFill>
          <a:ln/>
        </p:spPr>
      </p:sp>
      <p:sp>
        <p:nvSpPr>
          <p:cNvPr id="9" name="Doira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2ED3A0"/>
          </a:solidFill>
          <a:ln/>
        </p:spPr>
      </p:sp>
      <p:pic>
        <p:nvPicPr>
          <p:cNvPr id="10" name="Image 1" descr="Tezkor tekshiruvchi 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Tezkor tekshiruvchi bot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9718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imtihonini bir soniyada tekshirib, natijani qaytaradi.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O'tish nuqtalari tahlili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 yechish 4 o'tishga bo'lindi. Tahlil qoralamadagi izlarga qaraydi: qog'ozga faqat bilgan narsa yoziladi.</a:t>
            </a:r>
            <a:endParaRPr lang="en-US" sz="1400" dirty="0"/>
          </a:p>
        </p:txBody>
      </p:sp>
      <p:sp>
        <p:nvSpPr>
          <p:cNvPr id="4" name="Karta"/>
          <p:cNvSpPr/>
          <p:nvPr/>
        </p:nvSpPr>
        <p:spPr>
          <a:xfrm>
            <a:off x="548640" y="15544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Q0→Q1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O'qishdan chegaraga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Voqeani tushungach, aniq nima so'ralganini ajratish</a:t>
            </a:r>
            <a:endParaRPr lang="en-US" sz="1200" dirty="0"/>
          </a:p>
        </p:txBody>
      </p:sp>
      <p:sp>
        <p:nvSpPr>
          <p:cNvPr id="8" name="Karta"/>
          <p:cNvSpPr/>
          <p:nvPr/>
        </p:nvSpPr>
        <p:spPr>
          <a:xfrm>
            <a:off x="2606040" y="15544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4320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Q1→Q2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Chegaradan mavzuga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7432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kerakligini bilib, qaysi yo'l yoki reaksiya ekanini tanlash</a:t>
            </a:r>
            <a:endParaRPr lang="en-US" sz="1200" dirty="0"/>
          </a:p>
        </p:txBody>
      </p:sp>
      <p:sp>
        <p:nvSpPr>
          <p:cNvPr id="12" name="Karta"/>
          <p:cNvSpPr/>
          <p:nvPr/>
        </p:nvSpPr>
        <p:spPr>
          <a:xfrm>
            <a:off x="4663440" y="15544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Q2→Q3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Mavzudan bog'lanishga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7432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Reaksiyani bilib, sonlar orasidagi nisbatni o'qish</a:t>
            </a:r>
            <a:endParaRPr lang="en-US" sz="1200" dirty="0"/>
          </a:p>
        </p:txBody>
      </p:sp>
      <p:sp>
        <p:nvSpPr>
          <p:cNvPr id="16" name="Karta"/>
          <p:cNvSpPr/>
          <p:nvPr/>
        </p:nvSpPr>
        <p:spPr>
          <a:xfrm>
            <a:off x="6720840" y="15544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Q3→Q4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Bog'lanishdan yakunga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7432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Nisbatni bilib, oxirigacha hisoblab savolga qaytish</a:t>
            </a:r>
            <a:endParaRPr lang="en-US" sz="1200" dirty="0"/>
          </a:p>
        </p:txBody>
      </p:sp>
      <p:sp>
        <p:nvSpPr>
          <p:cNvPr id="20" name="Belgi"/>
          <p:cNvSpPr/>
          <p:nvPr/>
        </p:nvSpPr>
        <p:spPr>
          <a:xfrm>
            <a:off x="548640" y="4114800"/>
            <a:ext cx="182880" cy="182880"/>
          </a:xfrm>
          <a:prstGeom prst="ellipse">
            <a:avLst/>
          </a:prstGeom>
          <a:solidFill>
            <a:srgbClr val="145A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0416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</a:t>
            </a:r>
            <a:endParaRPr lang="en-US" sz="1300" dirty="0"/>
          </a:p>
        </p:txBody>
      </p:sp>
      <p:sp>
        <p:nvSpPr>
          <p:cNvPr id="22" name="Belgi"/>
          <p:cNvSpPr/>
          <p:nvPr/>
        </p:nvSpPr>
        <p:spPr>
          <a:xfrm>
            <a:off x="2011680" y="411480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286000" y="4041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Uzilgan (urinib ko'rgan, xato shu yerda)</a:t>
            </a:r>
            <a:endParaRPr lang="en-US" sz="1300" dirty="0"/>
          </a:p>
        </p:txBody>
      </p:sp>
      <p:sp>
        <p:nvSpPr>
          <p:cNvPr id="24" name="Belgi"/>
          <p:cNvSpPr/>
          <p:nvPr/>
        </p:nvSpPr>
        <p:spPr>
          <a:xfrm>
            <a:off x="5120640" y="4114800"/>
            <a:ext cx="182880" cy="182880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94960" y="4041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Ko'rinmaydi (qoralamada yo'q)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Zanjir eng ko'p qayerda uziladi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Xulosa"/>
          <p:cNvSpPr/>
          <p:nvPr/>
        </p:nvSpPr>
        <p:spPr>
          <a:xfrm>
            <a:off x="594360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0B3D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30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3317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masalada Q3→Q4 o'tishda muammo bor (7 uzilgan, 4 ko'rinmaydi). 1-o'quvchining takrorlanuvchi zaif nuqtasi.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Tekshirilgan 30 ta masala, bitta o'quvchi bo'yicha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Muammoli masalalar, 1/2</a:t>
            </a:r>
            <a:endParaRPr lang="en-US" sz="2800" dirty="0"/>
          </a:p>
        </p:txBody>
      </p:sp>
      <p:graphicFrame>
        <p:nvGraphicFramePr>
          <p:cNvPr id="27" name="Muammoli masalalar jadval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48840"/>
                <a:gridCol w="82296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Mavzu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O'tish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Qoralamadagi dalil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AlCl₃ + NH₃ aralash eritma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Q3→Q4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Qoralamada 0,4 va 0,3 chiqqan, bu D variant. Javob varag'ida B belgilangan.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Elektroliz, molyal konsentratsiya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Q3→Q4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28/0,7 = 40 chiqqan, bu NaOH (B). Javob varag'ida A (KOH).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Glitserin va glukozaning umumiy xossasi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5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Q1→Q2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Qoralamada faqat struktura chizilgan, xossa haqida mulohaza yo'q. C belgilangan, kalit 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AgNO₃ + CaCl₂, ion nisbati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5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Q0→Q1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Aralashmadagi ion nisbatini (3:2) hisoblagan, savol dastlabki eritmalar nisbatini so'ragan.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 + HNO₃, gaz aralashmasi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Q3→Q4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Yechim yo'li deyarli to'g'ri, yig'indi 1,3 chiqqan (kalit 1,4), keyin B belgilangan.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C₃H₆Br₂ izomerlari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Q3→Q4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ta struktura chizilgan, 5-chisi qolib ketgan. A (4) belgilangan, kalit D (5).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Muammoli masalalar, 2/2</a:t>
            </a:r>
            <a:endParaRPr lang="en-US" sz="2800" dirty="0"/>
          </a:p>
        </p:txBody>
      </p:sp>
      <p:graphicFrame>
        <p:nvGraphicFramePr>
          <p:cNvPr id="28" name="Muammoli masalalar jadval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48840"/>
                <a:gridCol w="82296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Mavzu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O'tish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Qoralamadagi dalil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Pirit yonishi, bosim 20% kamayishi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5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Q2→Q3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Reaksiya to'g'ri yozilgan, bosim kamayishini stexiometriyaga bog'lashda xato.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 + metan aralashmasi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Q3→Q4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Qoralamada 6,72 chiqqan, bu A variant. Javob varag'ida C belgilangan.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R(OH)₃, gomologik qator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Q3→Q4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92 topilgan, glitserin ekanini aniqlagan. Savol "o'rni"ni so'ragan, u uglerod sonini (3) yozgan.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Muvozanat: K va siljish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Q3→Q4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Besh bosqichli uzun yechim (K = 0,25, jadval), oxirida xy = 3 chiqqan, to'g'risi 5.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Vyurs reaksiyasi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5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Q0→Q1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"Har biridan 1 mol" shartini "1 mol aralashma" deb tushungan (6,72 l, kalit 7,84 l). Guruhda boshqalarda ham uchraydi.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Hisob to'g'ri, doiracha boshqa</a:t>
            </a:r>
            <a:endParaRPr lang="en-US" sz="2800" dirty="0"/>
          </a:p>
        </p:txBody>
      </p:sp>
      <p:sp>
        <p:nvSpPr>
          <p:cNvPr id="3" name="Misol"/>
          <p:cNvSpPr/>
          <p:nvPr/>
        </p:nvSpPr>
        <p:spPr>
          <a:xfrm>
            <a:off x="54864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45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5-masala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Qoralamada 0,4 va 0,3 chiqqan, bu D variant. Javob varag'ida B belgilangan.</a:t>
            </a:r>
            <a:endParaRPr lang="en-US" sz="1400" dirty="0"/>
          </a:p>
        </p:txBody>
      </p:sp>
      <p:sp>
        <p:nvSpPr>
          <p:cNvPr id="6" name="Misol"/>
          <p:cNvSpPr/>
          <p:nvPr/>
        </p:nvSpPr>
        <p:spPr>
          <a:xfrm>
            <a:off x="329184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45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6-masala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Qoralamada M = 40 chiqqan, bu NaOH (B). Javob varag'ida A belgilangan.</a:t>
            </a:r>
            <a:endParaRPr lang="en-US" sz="1400" dirty="0"/>
          </a:p>
        </p:txBody>
      </p:sp>
      <p:sp>
        <p:nvSpPr>
          <p:cNvPr id="9" name="Misol"/>
          <p:cNvSpPr/>
          <p:nvPr/>
        </p:nvSpPr>
        <p:spPr>
          <a:xfrm>
            <a:off x="6035040" y="1188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45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25-masala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Qoralamada 6,72 l chiqqan, bu A variant. Javob varag'ida C belgilangan.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Ko'rinmaydi degani nima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ma'lumot yo'qligi emas, o'quvchi shu bosqichda fikrlay olmaganining dalili: qog'ozga faqat bilgan narsa yoziladi.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5204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 o'tishga alohida mashq: butun masalani emas, faqat shu bitta qadamni, masalan 10 ta masalada bajarish.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To'rt o'quvchi: zanjir qayerda uziladi</a:t>
            </a:r>
            <a:endParaRPr lang="en-US" sz="2800" dirty="0"/>
          </a:p>
        </p:txBody>
      </p:sp>
      <p:graphicFrame>
        <p:nvGraphicFramePr>
          <p:cNvPr id="30" name="O'quvchilar jadval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O'quvchi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Q0→Q1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Q1→Q2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Q2→Q3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Q3→Q4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1-o'quvchi (30 masala)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2-o'quvchi (30 masala)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3-o'quvchi (31 masala)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4-o'quvchi (30 masala)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121 ta tekshirilgan masalada muammo bo'lgan o'tishlar soni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3383280"/>
          <a:ext cx="53035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Xulosa"/>
          <p:cNvSpPr/>
          <p:nvPr/>
        </p:nvSpPr>
        <p:spPr>
          <a:xfrm>
            <a:off x="6035040" y="3383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B3D2E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03504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/ 121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4114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masalada Q3→Q4 da muammo. To'rttala o'quvchida ham eng zaif nuqta shu.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2-o'quvchi: eng ko'p uzilish Q3→Q4 va Q2→Q3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5156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a"/>
          <p:cNvSpPr/>
          <p:nvPr/>
        </p:nvSpPr>
        <p:spPr>
          <a:xfrm>
            <a:off x="4389120" y="105156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26280" y="11430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 16, 29, 30-masalalarda hisob qoralamada yo'q yoki yarim qolgan: vaqt yetmagan yoki taxmin qilingan bo'lishi mumkin.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18-masalada aralashtirishdan oldingi konsentratsiya o'rniga keyingisini hisoblagan. 19-masalada NH₃ eritmasi hajmini hosil bo'lgan eritma hajmi deb olgan.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va 27-masalada to'g'ri javobni qoralamada topgan, varaqda boshqa variantni belgilagan.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23-masalada Tollens reaktivi mahsulotini gidroksil deb olgan, to'g'risi karboksil.</a:t>
            </a:r>
            <a:endParaRPr lang="en-US" sz="1200" dirty="0"/>
          </a:p>
        </p:txBody>
      </p:sp>
      <p:sp>
        <p:nvSpPr>
          <p:cNvPr id="6" name="Tavsiya"/>
          <p:cNvSpPr/>
          <p:nvPr/>
        </p:nvSpPr>
        <p:spPr>
          <a:xfrm>
            <a:off x="548640" y="438912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0B3D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4389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Tavsiya: Q0→Q1 o'tishiga alohida mashq va javobni varaqqa ko'chirishdan oldin qoralama bilan solishtirish.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3-o'quvchi: tushunish kuchli, oxirgi qadamda yo'qotadi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5156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a"/>
          <p:cNvSpPr/>
          <p:nvPr/>
        </p:nvSpPr>
        <p:spPr>
          <a:xfrm>
            <a:off x="4389120" y="105156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26280" y="11430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O'qish va mavzuni tanlashda (Q0→Q1, Q1→Q2) 31 ta masalada birorta muammo yo'q.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va 10-masalada hisob to'g'ri chiqqan (masalan 80%), lekin varaqqa boshqa variant ko'chirilgan.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 25, 26-masalada yechim yo'li va tenglamalar to'g'ri, oxirgi hisobda xato yoki javob boshqa tanlangan.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 14, 18, 22-masalada nisbatni bog'lash (Q2→Q3) uzilgan, masalan suyultirish sharti hisobga olinmagan.</a:t>
            </a:r>
            <a:endParaRPr lang="en-US" sz="1200" dirty="0"/>
          </a:p>
        </p:txBody>
      </p:sp>
      <p:sp>
        <p:nvSpPr>
          <p:cNvPr id="6" name="Tavsiya"/>
          <p:cNvSpPr/>
          <p:nvPr/>
        </p:nvSpPr>
        <p:spPr>
          <a:xfrm>
            <a:off x="548640" y="438912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0B3D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4389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Tavsiya: hisobning oxirgi qadami va varaqqa ko'chirishni tekshirish odatini mashq qilish.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4-o'quvchi: ko'p masala qoralamada ko'rinmaydi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5156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a"/>
          <p:cNvSpPr/>
          <p:nvPr/>
        </p:nvSpPr>
        <p:spPr>
          <a:xfrm>
            <a:off x="4389120" y="105156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26280" y="11430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1-masalada x² = 49 dan x = 7 topgan, lekin so'ralgan qism 7 − 1 = 6: jami bilan so'ralgan qismni almashtirgan.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11-masalada "3 mol yonib, 1 mol xlorlangan" nisbatini noto'g'ri bog'lagan (n = 2, to'g'risi 1).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va 24-masalada moddalar xossasini tanlashda xato (AgNO₃ CO₂ bermaydi; fenol va HNO₃).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16-masalada hisob to'g'ri (230 mg), lekin D belgilangan. 24 va 30-masalada qoralama yo'q.</a:t>
            </a:r>
            <a:endParaRPr lang="en-US" sz="1200" dirty="0"/>
          </a:p>
        </p:txBody>
      </p:sp>
      <p:sp>
        <p:nvSpPr>
          <p:cNvPr id="6" name="Tavsiya"/>
          <p:cNvSpPr/>
          <p:nvPr/>
        </p:nvSpPr>
        <p:spPr>
          <a:xfrm>
            <a:off x="548640" y="438912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0B3D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4389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Tavsiya: Q0→Q1 mashq, savoldagi so'zlarni ("qismi", "dastlabki") chizib o'qish va vaqtni taqsimlash.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xil variantda ikki o'quvchi adashgan masalalar</a:t>
            </a:r>
            <a:endParaRPr lang="en-US" sz="2800" dirty="0"/>
          </a:p>
        </p:txBody>
      </p:sp>
      <p:graphicFrame>
        <p:nvGraphicFramePr>
          <p:cNvPr id="34" name="Umumiy masalala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834640"/>
                <a:gridCol w="4663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Mavzu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Umumiy sabab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Alkan aniqlash (yonish va xlorlash)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mol yonib 1 mol xlorlangan nisbati noto'g'ri bog'langan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+ H₂O muvozanati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Jadval to'g'ri qurilgan, oxirgi hisobgacha olib borilmagan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NaOH + HBr, m(Na⁺)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Bittasida hisob to'g'ri, varaq noto'g'ri; boshqasida qoralama yo'q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NaOH, pH =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Aralashtirishdan oldingi konsentratsiya hisobga olinmagan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hosil qiluvchi moddalar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Moddalar xossasi: AgNO₃ CO₂ bermaydi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OVR: 6KI + 8HNO₃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Elektron balans to'g'ri, mol nisbatida xato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 + CaBr₂, AgNO₃ massasi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Tenglamalar to'g'ri, oxirgi bo'lish yoki hisobda xato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Si/C aralashmasi, mol nisbati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Tenglamalar bor, massani nisbatga bog'lash uzilgan yoki qoralama yo'q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2-, 3- va 4-o'quvchining masala mavzulari mos keladi, ya'ni ular bir xil variantda ishlagan.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To'rt o'quvchida takrorlangan naqshlar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0972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To'g'ri hisob, noto'g'ri doiracha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Kamida 8 ta holat: 1-o'quvchida 3 ta, 2-da 2 ta, 3-da 2 ta, 4-da 1 ta. Javob qoralamada to'g'ri, varaqda boshqa.</a:t>
            </a:r>
            <a:endParaRPr lang="en-US" sz="1300" dirty="0"/>
          </a:p>
        </p:txBody>
      </p:sp>
      <p:sp>
        <p:nvSpPr>
          <p:cNvPr id="6" name="Karta"/>
          <p:cNvSpPr/>
          <p:nvPr/>
        </p:nvSpPr>
        <p:spPr>
          <a:xfrm>
            <a:off x="4663440" y="10972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Shartdagi so'zni o'zgartirish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"Dastlabki" o'rniga aralashmadagi, "hosil bo'lgan eritma" o'rniga NH₃ eritmasi, "o'rni" o'rniga uglerod soni, so'ralgan qism o'rniga jami.</a:t>
            </a:r>
            <a:endParaRPr lang="en-US" sz="1300" dirty="0"/>
          </a:p>
        </p:txBody>
      </p:sp>
      <p:sp>
        <p:nvSpPr>
          <p:cNvPr id="9" name="Karta"/>
          <p:cNvSpPr/>
          <p:nvPr/>
        </p:nvSpPr>
        <p:spPr>
          <a:xfrm>
            <a:off x="548640" y="301752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Qoralama yo'q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661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Ba'zi masalalarda qoralama umuman yo'q: bilim yetishmasligi yoki vaqt tugashi. Javob taxmin bilan belgilangan bo'lishi mumkin.</a:t>
            </a:r>
            <a:endParaRPr lang="en-US" sz="1300" dirty="0"/>
          </a:p>
        </p:txBody>
      </p:sp>
      <p:sp>
        <p:nvSpPr>
          <p:cNvPr id="12" name="Karta"/>
          <p:cNvSpPr/>
          <p:nvPr/>
        </p:nvSpPr>
        <p:spPr>
          <a:xfrm>
            <a:off x="4663440" y="301752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Yo'l to'g'ri, oxiri xato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661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Tenglama va jadval to'g'ri, lekin oxirgi bo'lish yoki ko'paytirishda xato (3-o'quvchida 20, 25, 26-masala).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Tahlildan xulosalar</a:t>
            </a:r>
            <a:endParaRPr lang="en-US" sz="2800" dirty="0"/>
          </a:p>
        </p:txBody>
      </p:sp>
      <p:sp>
        <p:nvSpPr>
          <p:cNvPr id="3" name="Xulosa qatori"/>
          <p:cNvSpPr/>
          <p:nvPr/>
        </p:nvSpPr>
        <p:spPr>
          <a:xfrm>
            <a:off x="548640" y="11430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5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Natija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143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zaif nuqta to'rttala o'quvchida Q3→Q4: 121 ta masalaning 38 tasida. Ikkinchisi Q2→Q3: 23 ta.</a:t>
            </a:r>
            <a:endParaRPr lang="en-US" sz="1400" dirty="0"/>
          </a:p>
        </p:txBody>
      </p:sp>
      <p:sp>
        <p:nvSpPr>
          <p:cNvPr id="6" name="Xulosa qatori"/>
          <p:cNvSpPr/>
          <p:nvPr/>
        </p:nvSpPr>
        <p:spPr>
          <a:xfrm>
            <a:off x="548640" y="2075688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5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7568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Sabab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07568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holatda bilim emas, yakuniy qadam: javobni oxirigacha hisoblash va varaqqa to'g'ri ko'chirish. Ba'zi masalalarda esa mavzu xossasi bilinmagan.</a:t>
            </a:r>
            <a:endParaRPr lang="en-US" sz="1400" dirty="0"/>
          </a:p>
        </p:txBody>
      </p:sp>
      <p:sp>
        <p:nvSpPr>
          <p:cNvPr id="9" name="Xulosa qatori"/>
          <p:cNvSpPr/>
          <p:nvPr/>
        </p:nvSpPr>
        <p:spPr>
          <a:xfrm>
            <a:off x="548640" y="3008376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5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00837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Tavsiya 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00837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Varaqqa belgilashdan oldin qoralamadagi javob bilan solishtirish odati.</a:t>
            </a:r>
            <a:endParaRPr lang="en-US" sz="1400" dirty="0"/>
          </a:p>
        </p:txBody>
      </p:sp>
      <p:sp>
        <p:nvSpPr>
          <p:cNvPr id="12" name="Xulosa qatori"/>
          <p:cNvSpPr/>
          <p:nvPr/>
        </p:nvSpPr>
        <p:spPr>
          <a:xfrm>
            <a:off x="548640" y="3941064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5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4106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Tavsiya 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94106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 so'zlarini (dastlabki, hosil bo'lgan, qismi) chizib o'qish. Zaif o'tishga alohida mashq.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 va keyingi qadamlar</a:t>
            </a:r>
            <a:endParaRPr lang="en-US" sz="2800" dirty="0"/>
          </a:p>
        </p:txBody>
      </p:sp>
      <p:sp>
        <p:nvSpPr>
          <p:cNvPr id="3" name="Qadam"/>
          <p:cNvSpPr/>
          <p:nvPr/>
        </p:nvSpPr>
        <p:spPr>
          <a:xfrm>
            <a:off x="548640" y="12801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145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Tizim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280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Sxema, 80/20, olimpiada va MS analoglari birga ishlaydi</a:t>
            </a:r>
            <a:endParaRPr lang="en-US" sz="1500" dirty="0"/>
          </a:p>
        </p:txBody>
      </p:sp>
      <p:sp>
        <p:nvSpPr>
          <p:cNvPr id="6" name="Qadam"/>
          <p:cNvSpPr/>
          <p:nvPr/>
        </p:nvSpPr>
        <p:spPr>
          <a:xfrm>
            <a:off x="548640" y="23774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145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Aniqlik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3774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O'tish nuqtalari tahlili zaif qadamni ko'rsatadi</a:t>
            </a:r>
            <a:endParaRPr lang="en-US" sz="1500" dirty="0"/>
          </a:p>
        </p:txBody>
      </p:sp>
      <p:sp>
        <p:nvSpPr>
          <p:cNvPr id="9" name="Qadam"/>
          <p:cNvSpPr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145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Keyingi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474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 o'tishga qaratilgan mashqlar va analitikani botga ulash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O'quvchilar bilan ishlash tajribasi</dc:title>
  <dc:subject>PptxGenJS Presentation</dc:subject>
  <dc:creator>Bobur</dc:creator>
  <cp:lastModifiedBy>Bobur</cp:lastModifiedBy>
  <cp:revision>1</cp:revision>
  <dcterms:created xsi:type="dcterms:W3CDTF">2026-10-25T17:30:08Z</dcterms:created>
  <dcterms:modified xsi:type="dcterms:W3CDTF">2026-10-25T17:30:08Z</dcterms:modified>
</cp:coreProperties>
</file>