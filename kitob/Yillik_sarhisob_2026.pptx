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</c:v>
                </c:pt>
              </c:strCache>
            </c:strRef>
          </c:tx>
          <c:spPr>
            <a:solidFill>
              <a:srgbClr val="145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3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12–14 avg</c:v>
                  </c:pt>
                  <c:pt idx="1">
                    <c:v>26–27 avg</c:v>
                  </c:pt>
                  <c:pt idx="2">
                    <c:v>4–5 sen</c:v>
                  </c:pt>
                  <c:pt idx="3">
                    <c:v>16–19 okt</c:v>
                  </c:pt>
                  <c:pt idx="4">
                    <c:v>20–23 okt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21</c:v>
                </c:pt>
                <c:pt idx="2">
                  <c:v>4</c:v>
                </c:pt>
                <c:pt idx="3">
                  <c:v>15</c:v>
                </c:pt>
                <c:pt idx="4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3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nooracademy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Yillik sarhisob 2026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Kimyo o'qituvchisi Bobur: platforma, kitob va o'quv materiallari</a:t>
            </a:r>
            <a:endParaRPr lang="en-US" sz="1800" dirty="0"/>
          </a:p>
        </p:txBody>
      </p:sp>
      <p:sp>
        <p:nvSpPr>
          <p:cNvPr id="5" name="Rasm ramkasi"/>
          <p:cNvSpPr/>
          <p:nvPr/>
        </p:nvSpPr>
        <p:spPr>
          <a:xfrm>
            <a:off x="5486400" y="548640"/>
            <a:ext cx="3200400" cy="4023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pic>
        <p:nvPicPr>
          <p:cNvPr id="6" name="Image 0" descr="Etilen olish qurilmasi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23560" y="822960"/>
            <a:ext cx="2926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Raqamlarda yil</a:t>
            </a:r>
            <a:endParaRPr lang="en-US" sz="3200" dirty="0"/>
          </a:p>
        </p:txBody>
      </p:sp>
      <p:sp>
        <p:nvSpPr>
          <p:cNvPr id="3" name="Stat karta"/>
          <p:cNvSpPr/>
          <p:nvPr/>
        </p:nvSpPr>
        <p:spPr>
          <a:xfrm>
            <a:off x="548640" y="118872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o'zgarishi</a:t>
            </a:r>
            <a:endParaRPr lang="en-US" sz="1400" dirty="0"/>
          </a:p>
        </p:txBody>
      </p:sp>
      <p:sp>
        <p:nvSpPr>
          <p:cNvPr id="6" name="Stat karta"/>
          <p:cNvSpPr/>
          <p:nvPr/>
        </p:nvSpPr>
        <p:spPr>
          <a:xfrm>
            <a:off x="2606040" y="118872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06040" y="1280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platforma ustida</a:t>
            </a:r>
            <a:endParaRPr lang="en-US" sz="1400" dirty="0"/>
          </a:p>
        </p:txBody>
      </p:sp>
      <p:sp>
        <p:nvSpPr>
          <p:cNvPr id="9" name="Stat karta"/>
          <p:cNvSpPr/>
          <p:nvPr/>
        </p:nvSpPr>
        <p:spPr>
          <a:xfrm>
            <a:off x="4663440" y="118872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1280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darslik konspekti</a:t>
            </a:r>
            <a:endParaRPr lang="en-US" sz="1400" dirty="0"/>
          </a:p>
        </p:txBody>
      </p:sp>
      <p:sp>
        <p:nvSpPr>
          <p:cNvPr id="12" name="Stat karta"/>
          <p:cNvSpPr/>
          <p:nvPr/>
        </p:nvSpPr>
        <p:spPr>
          <a:xfrm>
            <a:off x="6720840" y="118872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20840" y="1280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 MS varianti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o'zgarishlari davrlar bo'yicha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2926080"/>
          <a:ext cx="80467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O'quvchilar uchun qurilganlar</a:t>
            </a:r>
            <a:endParaRPr lang="en-US" sz="3200" dirty="0"/>
          </a:p>
        </p:txBody>
      </p:sp>
      <p:sp>
        <p:nvSpPr>
          <p:cNvPr id="3" name="Karta"/>
          <p:cNvSpPr/>
          <p:nvPr/>
        </p:nvSpPr>
        <p:spPr>
          <a:xfrm>
            <a:off x="5486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konka doirasi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5" name="Image 0" descr="Test Gener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Generator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MS, DTM yili yoki mavzu bo'yicha, PDF</a:t>
            </a:r>
            <a:endParaRPr lang="en-US" sz="1200" dirty="0"/>
          </a:p>
        </p:txBody>
      </p:sp>
      <p:sp>
        <p:nvSpPr>
          <p:cNvPr id="8" name="Karta"/>
          <p:cNvSpPr/>
          <p:nvPr/>
        </p:nvSpPr>
        <p:spPr>
          <a:xfrm>
            <a:off x="32918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konka doirasi"/>
          <p:cNvSpPr/>
          <p:nvPr/>
        </p:nvSpPr>
        <p:spPr>
          <a:xfrm>
            <a:off x="34747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10" name="Image 1" descr="Variant va mavzu videolar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52704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va mavzu videolari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savolga o'qituvchi izohi</a:t>
            </a:r>
            <a:endParaRPr lang="en-US" sz="1200" dirty="0"/>
          </a:p>
        </p:txBody>
      </p:sp>
      <p:sp>
        <p:nvSpPr>
          <p:cNvPr id="13" name="Karta"/>
          <p:cNvSpPr/>
          <p:nvPr/>
        </p:nvSpPr>
        <p:spPr>
          <a:xfrm>
            <a:off x="60350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konka doirasi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15" name="Image 2" descr="AI yordamch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52704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yordamchi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matniga tayangan javoblar</a:t>
            </a:r>
            <a:endParaRPr lang="en-US" sz="1200" dirty="0"/>
          </a:p>
        </p:txBody>
      </p:sp>
      <p:sp>
        <p:nvSpPr>
          <p:cNvPr id="18" name="Karta"/>
          <p:cNvSpPr/>
          <p:nvPr/>
        </p:nvSpPr>
        <p:spPr>
          <a:xfrm>
            <a:off x="5486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konka doirasi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20" name="Image 3" descr="Analog misoll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35584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misollar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A–D variantli kartochka, PDF varaq</a:t>
            </a:r>
            <a:endParaRPr lang="en-US" sz="1200" dirty="0"/>
          </a:p>
        </p:txBody>
      </p:sp>
      <p:sp>
        <p:nvSpPr>
          <p:cNvPr id="23" name="Karta"/>
          <p:cNvSpPr/>
          <p:nvPr/>
        </p:nvSpPr>
        <p:spPr>
          <a:xfrm>
            <a:off x="32918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konka doirasi"/>
          <p:cNvSpPr/>
          <p:nvPr/>
        </p:nvSpPr>
        <p:spPr>
          <a:xfrm>
            <a:off x="34747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25" name="Image 4" descr="Jonli darsl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3355848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747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darslar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xona va dars yozuvlari</a:t>
            </a:r>
            <a:endParaRPr lang="en-US" sz="1200" dirty="0"/>
          </a:p>
        </p:txBody>
      </p:sp>
      <p:sp>
        <p:nvSpPr>
          <p:cNvPr id="28" name="Karta"/>
          <p:cNvSpPr/>
          <p:nvPr/>
        </p:nvSpPr>
        <p:spPr>
          <a:xfrm>
            <a:off x="60350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konka doirasi"/>
          <p:cNvSpPr/>
          <p:nvPr/>
        </p:nvSpPr>
        <p:spPr>
          <a:xfrm>
            <a:off x="62179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30" name="Image 5" descr="Shaxsiy analytic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355848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179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analytics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Zaif mavzular va o'qish tavsiyasi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Admin, to'lov va xavfsizlik</a:t>
            </a:r>
            <a:endParaRPr lang="en-US" sz="3200" dirty="0"/>
          </a:p>
        </p:txBody>
      </p:sp>
      <p:sp>
        <p:nvSpPr>
          <p:cNvPr id="3" name="Karta"/>
          <p:cNvSpPr/>
          <p:nvPr/>
        </p:nvSpPr>
        <p:spPr>
          <a:xfrm>
            <a:off x="5486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konka doirasi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5" name="Image 0" descr="Admin 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Savollarga video, matn, zaxira nusxa</a:t>
            </a:r>
            <a:endParaRPr lang="en-US" sz="1200" dirty="0"/>
          </a:p>
        </p:txBody>
      </p:sp>
      <p:sp>
        <p:nvSpPr>
          <p:cNvPr id="8" name="Karta"/>
          <p:cNvSpPr/>
          <p:nvPr/>
        </p:nvSpPr>
        <p:spPr>
          <a:xfrm>
            <a:off x="32918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konka doirasi"/>
          <p:cNvSpPr/>
          <p:nvPr/>
        </p:nvSpPr>
        <p:spPr>
          <a:xfrm>
            <a:off x="34747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10" name="Image 1" descr="Chek bilan to'lo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52704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 bilan to'lov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Telegramda tasdiqlash yoki rad etish</a:t>
            </a:r>
            <a:endParaRPr lang="en-US" sz="1200" dirty="0"/>
          </a:p>
        </p:txBody>
      </p:sp>
      <p:sp>
        <p:nvSpPr>
          <p:cNvPr id="13" name="Karta"/>
          <p:cNvSpPr/>
          <p:nvPr/>
        </p:nvSpPr>
        <p:spPr>
          <a:xfrm>
            <a:off x="60350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konka doirasi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15" name="Image 2" descr="Moderatsiy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52704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Moderatsiya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javoblari va analoglar tekshiruvdan o'tadi</a:t>
            </a:r>
            <a:endParaRPr lang="en-US" sz="1200" dirty="0"/>
          </a:p>
        </p:txBody>
      </p:sp>
      <p:sp>
        <p:nvSpPr>
          <p:cNvPr id="18" name="Karta"/>
          <p:cNvSpPr/>
          <p:nvPr/>
        </p:nvSpPr>
        <p:spPr>
          <a:xfrm>
            <a:off x="5486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konka doirasi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20" name="Image 3" descr="Pullik videol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35584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Pullik videolar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va jonli dars yozuvlari alohida narxda</a:t>
            </a:r>
            <a:endParaRPr lang="en-US" sz="1200" dirty="0"/>
          </a:p>
        </p:txBody>
      </p:sp>
      <p:sp>
        <p:nvSpPr>
          <p:cNvPr id="23" name="Karta"/>
          <p:cNvSpPr/>
          <p:nvPr/>
        </p:nvSpPr>
        <p:spPr>
          <a:xfrm>
            <a:off x="32918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konka doirasi"/>
          <p:cNvSpPr/>
          <p:nvPr/>
        </p:nvSpPr>
        <p:spPr>
          <a:xfrm>
            <a:off x="34747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25" name="Image 4" descr="Telegram xabarlar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3355848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747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xabarlari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so'rov haqida admin darhol biladi</a:t>
            </a:r>
            <a:endParaRPr lang="en-US" sz="1200" dirty="0"/>
          </a:p>
        </p:txBody>
      </p:sp>
      <p:sp>
        <p:nvSpPr>
          <p:cNvPr id="28" name="Karta"/>
          <p:cNvSpPr/>
          <p:nvPr/>
        </p:nvSpPr>
        <p:spPr>
          <a:xfrm>
            <a:off x="60350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konka doirasi"/>
          <p:cNvSpPr/>
          <p:nvPr/>
        </p:nvSpPr>
        <p:spPr>
          <a:xfrm>
            <a:off x="62179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30" name="Image 5" descr="Kiri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355848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179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Parolni tiklash, tarif tuzilmasi soddalashgan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Yil davomidagi bosqichlar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7680960" cy="0"/>
          </a:xfrm>
          <a:prstGeom prst="line">
            <a:avLst/>
          </a:prstGeom>
          <a:noFill/>
          <a:ln w="25400">
            <a:solidFill>
              <a:srgbClr val="145A44"/>
            </a:solidFill>
            <a:prstDash val="solid"/>
          </a:ln>
        </p:spPr>
      </p:sp>
      <p:sp>
        <p:nvSpPr>
          <p:cNvPr id="4" name="Nuqta"/>
          <p:cNvSpPr/>
          <p:nvPr/>
        </p:nvSpPr>
        <p:spPr>
          <a:xfrm>
            <a:off x="960120" y="1965960"/>
            <a:ext cx="274320" cy="274320"/>
          </a:xfrm>
          <a:prstGeom prst="ellipse">
            <a:avLst/>
          </a:prstGeom>
          <a:solidFill>
            <a:srgbClr val="2ED3A0"/>
          </a:solidFill>
          <a:ln w="25400">
            <a:solidFill>
              <a:srgbClr val="145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Avgust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46888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Generator va variant savdosi</a:t>
            </a:r>
            <a:endParaRPr lang="en-US" sz="1300" dirty="0"/>
          </a:p>
        </p:txBody>
      </p:sp>
      <p:sp>
        <p:nvSpPr>
          <p:cNvPr id="7" name="Nuqta"/>
          <p:cNvSpPr/>
          <p:nvPr/>
        </p:nvSpPr>
        <p:spPr>
          <a:xfrm>
            <a:off x="2331720" y="1965960"/>
            <a:ext cx="274320" cy="274320"/>
          </a:xfrm>
          <a:prstGeom prst="ellipse">
            <a:avLst/>
          </a:prstGeom>
          <a:solidFill>
            <a:srgbClr val="2ED3A0"/>
          </a:solidFill>
          <a:ln w="25400">
            <a:solidFill>
              <a:srgbClr val="145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024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Sentyabr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246888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OBS, imtihon materiallari</a:t>
            </a:r>
            <a:endParaRPr lang="en-US" sz="1300" dirty="0"/>
          </a:p>
        </p:txBody>
      </p:sp>
      <p:sp>
        <p:nvSpPr>
          <p:cNvPr id="10" name="Nuqta"/>
          <p:cNvSpPr/>
          <p:nvPr/>
        </p:nvSpPr>
        <p:spPr>
          <a:xfrm>
            <a:off x="3703320" y="1965960"/>
            <a:ext cx="274320" cy="274320"/>
          </a:xfrm>
          <a:prstGeom prst="ellipse">
            <a:avLst/>
          </a:prstGeom>
          <a:solidFill>
            <a:srgbClr val="2ED3A0"/>
          </a:solidFill>
          <a:ln w="25400">
            <a:solidFill>
              <a:srgbClr val="145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16–18 okt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46888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 darslari va AI javoblari</a:t>
            </a:r>
            <a:endParaRPr lang="en-US" sz="1300" dirty="0"/>
          </a:p>
        </p:txBody>
      </p:sp>
      <p:sp>
        <p:nvSpPr>
          <p:cNvPr id="13" name="Nuqta"/>
          <p:cNvSpPr/>
          <p:nvPr/>
        </p:nvSpPr>
        <p:spPr>
          <a:xfrm>
            <a:off x="5074920" y="1965960"/>
            <a:ext cx="274320" cy="274320"/>
          </a:xfrm>
          <a:prstGeom prst="ellipse">
            <a:avLst/>
          </a:prstGeom>
          <a:solidFill>
            <a:srgbClr val="2ED3A0"/>
          </a:solidFill>
          <a:ln w="25400">
            <a:solidFill>
              <a:srgbClr val="145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19–22 okt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46888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DTM bo'limi, AI yordamchi, analog</a:t>
            </a:r>
            <a:endParaRPr lang="en-US" sz="1300" dirty="0"/>
          </a:p>
        </p:txBody>
      </p:sp>
      <p:sp>
        <p:nvSpPr>
          <p:cNvPr id="16" name="Nuqta"/>
          <p:cNvSpPr/>
          <p:nvPr/>
        </p:nvSpPr>
        <p:spPr>
          <a:xfrm>
            <a:off x="6446520" y="1965960"/>
            <a:ext cx="274320" cy="274320"/>
          </a:xfrm>
          <a:prstGeom prst="ellipse">
            <a:avLst/>
          </a:prstGeom>
          <a:solidFill>
            <a:srgbClr val="2ED3A0"/>
          </a:solidFill>
          <a:ln w="25400">
            <a:solidFill>
              <a:srgbClr val="145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okt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246888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darslar va analytics</a:t>
            </a:r>
            <a:endParaRPr lang="en-US" sz="1300" dirty="0"/>
          </a:p>
        </p:txBody>
      </p:sp>
      <p:sp>
        <p:nvSpPr>
          <p:cNvPr id="19" name="Nuqta"/>
          <p:cNvSpPr/>
          <p:nvPr/>
        </p:nvSpPr>
        <p:spPr>
          <a:xfrm>
            <a:off x="7818120" y="1965960"/>
            <a:ext cx="274320" cy="274320"/>
          </a:xfrm>
          <a:prstGeom prst="ellipse">
            <a:avLst/>
          </a:prstGeom>
          <a:solidFill>
            <a:srgbClr val="2ED3A0"/>
          </a:solidFill>
          <a:ln w="25400">
            <a:solidFill>
              <a:srgbClr val="145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24–25 okt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46888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Kitob: konspekt va variantlar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Milliy Sertifikat kimyo kitobi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DTM va MS imtihonlari tahlil qilindi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Olimpiada masalalaridan MSga mosi tanlandi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 darslik o'qilib konspekt qilindi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variantlik reja, 1- va 2-variant tayyor</a:t>
            </a:r>
            <a:endParaRPr lang="en-US" sz="1600" dirty="0"/>
          </a:p>
        </p:txBody>
      </p:sp>
      <p:sp>
        <p:nvSpPr>
          <p:cNvPr id="4" name="Holat"/>
          <p:cNvSpPr/>
          <p:nvPr/>
        </p:nvSpPr>
        <p:spPr>
          <a:xfrm>
            <a:off x="548640" y="3611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45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657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bosqich: darslik faktlaridan MS uslubidagi masalalar tuzish</a:t>
            </a:r>
            <a:endParaRPr lang="en-US" sz="1400" dirty="0"/>
          </a:p>
        </p:txBody>
      </p:sp>
      <p:sp>
        <p:nvSpPr>
          <p:cNvPr id="6" name="Rasmlar paneli"/>
          <p:cNvSpPr/>
          <p:nvPr/>
        </p:nvSpPr>
        <p:spPr>
          <a:xfrm>
            <a:off x="4754880" y="1188720"/>
            <a:ext cx="384048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</p:sp>
      <p:pic>
        <p:nvPicPr>
          <p:cNvPr id="7" name="Image 0" descr="Laboratoriya qurilmalar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325880"/>
            <a:ext cx="3566160" cy="1654698"/>
          </a:xfrm>
          <a:prstGeom prst="rect">
            <a:avLst/>
          </a:prstGeom>
        </p:spPr>
      </p:pic>
      <p:pic>
        <p:nvPicPr>
          <p:cNvPr id="8" name="Image 1" descr="Tarozi: massa saqlanish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017520"/>
            <a:ext cx="1783080" cy="599620"/>
          </a:xfrm>
          <a:prstGeom prst="rect">
            <a:avLst/>
          </a:prstGeom>
        </p:spPr>
      </p:pic>
      <p:pic>
        <p:nvPicPr>
          <p:cNvPr id="9" name="Image 2" descr="Muvozanat grafig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063240"/>
            <a:ext cx="1691640" cy="1082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Video, efir va kanal</a:t>
            </a:r>
            <a:endParaRPr lang="en-US" sz="3200" dirty="0"/>
          </a:p>
        </p:txBody>
      </p:sp>
      <p:sp>
        <p:nvSpPr>
          <p:cNvPr id="3" name="Karta"/>
          <p:cNvSpPr/>
          <p:nvPr/>
        </p:nvSpPr>
        <p:spPr>
          <a:xfrm>
            <a:off x="5486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konka doirasi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5" name="Image 0" descr="Video dars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darslar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OBS, iPad ekran yozuvi, montaj</a:t>
            </a:r>
            <a:endParaRPr lang="en-US" sz="1200" dirty="0"/>
          </a:p>
        </p:txBody>
      </p:sp>
      <p:sp>
        <p:nvSpPr>
          <p:cNvPr id="8" name="Karta"/>
          <p:cNvSpPr/>
          <p:nvPr/>
        </p:nvSpPr>
        <p:spPr>
          <a:xfrm>
            <a:off x="32918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konka doirasi"/>
          <p:cNvSpPr/>
          <p:nvPr/>
        </p:nvSpPr>
        <p:spPr>
          <a:xfrm>
            <a:off x="34747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10" name="Image 1" descr="YouTube jonli ef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52704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jonli efir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Sozlash va so'rovnoma ko'rinishi</a:t>
            </a:r>
            <a:endParaRPr lang="en-US" sz="1200" dirty="0"/>
          </a:p>
        </p:txBody>
      </p:sp>
      <p:sp>
        <p:nvSpPr>
          <p:cNvPr id="13" name="Karta"/>
          <p:cNvSpPr/>
          <p:nvPr/>
        </p:nvSpPr>
        <p:spPr>
          <a:xfrm>
            <a:off x="60350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konka doirasi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15" name="Image 2" descr="Animatsiyal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52704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Animatsiyalar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Plastinka eritmaga tushishi, biologiya</a:t>
            </a:r>
            <a:endParaRPr lang="en-US" sz="1200" dirty="0"/>
          </a:p>
        </p:txBody>
      </p:sp>
      <p:sp>
        <p:nvSpPr>
          <p:cNvPr id="18" name="Karta"/>
          <p:cNvSpPr/>
          <p:nvPr/>
        </p:nvSpPr>
        <p:spPr>
          <a:xfrm>
            <a:off x="5486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konka doirasi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20" name="Image 3" descr="Telegram kan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35584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kanal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va e'lonlar, 40 kunlik reja</a:t>
            </a:r>
            <a:endParaRPr lang="en-US" sz="1200" dirty="0"/>
          </a:p>
        </p:txBody>
      </p:sp>
      <p:sp>
        <p:nvSpPr>
          <p:cNvPr id="23" name="Karta"/>
          <p:cNvSpPr/>
          <p:nvPr/>
        </p:nvSpPr>
        <p:spPr>
          <a:xfrm>
            <a:off x="32918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konka doirasi"/>
          <p:cNvSpPr/>
          <p:nvPr/>
        </p:nvSpPr>
        <p:spPr>
          <a:xfrm>
            <a:off x="34747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25" name="Image 4" descr="PDF materiall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3355848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747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materiallar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Masalalar, o'rtacha tezlik, jadvallar</a:t>
            </a:r>
            <a:endParaRPr lang="en-US" sz="1200" dirty="0"/>
          </a:p>
        </p:txBody>
      </p:sp>
      <p:sp>
        <p:nvSpPr>
          <p:cNvPr id="28" name="Karta"/>
          <p:cNvSpPr/>
          <p:nvPr/>
        </p:nvSpPr>
        <p:spPr>
          <a:xfrm>
            <a:off x="60350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konka doirasi"/>
          <p:cNvSpPr/>
          <p:nvPr/>
        </p:nvSpPr>
        <p:spPr>
          <a:xfrm>
            <a:off x="62179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30" name="Image 5" descr="Imtihon savollar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355848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179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Imtihon savollari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va manga 3 variant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Keyingi qadamlar</a:t>
            </a:r>
            <a:endParaRPr lang="en-US" sz="3600" dirty="0"/>
          </a:p>
        </p:txBody>
      </p:sp>
      <p:sp>
        <p:nvSpPr>
          <p:cNvPr id="3" name="Qadam"/>
          <p:cNvSpPr/>
          <p:nvPr/>
        </p:nvSpPr>
        <p:spPr>
          <a:xfrm>
            <a:off x="548640" y="155448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145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Kitob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5544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uslubidagi masalalarni tuzish va variantlarni 20 taga yetkazish</a:t>
            </a:r>
            <a:endParaRPr lang="en-US" sz="1500" dirty="0"/>
          </a:p>
        </p:txBody>
      </p:sp>
      <p:sp>
        <p:nvSpPr>
          <p:cNvPr id="6" name="Qadam"/>
          <p:cNvSpPr/>
          <p:nvPr/>
        </p:nvSpPr>
        <p:spPr>
          <a:xfrm>
            <a:off x="548640" y="26060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145A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60604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masalaning qaysi bosqichida qiynalishini aniqlash</a:t>
            </a:r>
            <a:endParaRPr lang="en-US" sz="1500" dirty="0"/>
          </a:p>
        </p:txBody>
      </p:sp>
      <p:sp>
        <p:nvSpPr>
          <p:cNvPr id="9" name="Qadam"/>
          <p:cNvSpPr/>
          <p:nvPr/>
        </p:nvSpPr>
        <p:spPr>
          <a:xfrm>
            <a:off x="548640" y="365760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145A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O'quvchilar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6576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va jonli darslar orqali yangi o'quvchilar jalb qilish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Yillik sarhisob 2026</dc:title>
  <dc:subject>PptxGenJS Presentation</dc:subject>
  <dc:creator>Bobur</dc:creator>
  <cp:lastModifiedBy>Bobur</cp:lastModifiedBy>
  <cp:revision>1</cp:revision>
  <dcterms:created xsi:type="dcterms:W3CDTF">2026-10-25T16:57:33Z</dcterms:created>
  <dcterms:modified xsi:type="dcterms:W3CDTF">2026-10-25T16:57:33Z</dcterms:modified>
</cp:coreProperties>
</file>