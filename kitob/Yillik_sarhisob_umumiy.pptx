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12–14 avg</c:v>
                  </c:pt>
                  <c:pt idx="1">
                    <c:v>26–27 avg</c:v>
                  </c:pt>
                  <c:pt idx="2">
                    <c:v>4–5 sen</c:v>
                  </c:pt>
                  <c:pt idx="3">
                    <c:v>16–19 okt</c:v>
                  </c:pt>
                  <c:pt idx="4">
                    <c:v>20–23 okt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21</c:v>
                </c:pt>
                <c:pt idx="2">
                  <c:v>4</c:v>
                </c:pt>
                <c:pt idx="3">
                  <c:v>15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3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Muammo</c:v>
                </c:pt>
              </c:strCache>
            </c:strRef>
          </c:tx>
          <c:spPr>
            <a:solidFill>
              <a:srgbClr val="145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3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Q0→Q1</c:v>
                  </c:pt>
                  <c:pt idx="1">
                    <c:v>Q1→Q2</c:v>
                  </c:pt>
                  <c:pt idx="2">
                    <c:v>Q2→Q3</c:v>
                  </c:pt>
                  <c:pt idx="3">
                    <c:v>Q3→Q4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23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423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nooracademy ·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Yillik sarhisob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 bilan ishlash, o'quv materiallari, platforma va kitob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Kimyo o'qituvchisi Bobur</a:t>
            </a:r>
            <a:endParaRPr lang="en-US" sz="1500" dirty="0"/>
          </a:p>
        </p:txBody>
      </p:sp>
      <p:sp>
        <p:nvSpPr>
          <p:cNvPr id="6" name="Rasm ramkasi"/>
          <p:cNvSpPr/>
          <p:nvPr/>
        </p:nvSpPr>
        <p:spPr>
          <a:xfrm>
            <a:off x="5486400" y="548640"/>
            <a:ext cx="3200400" cy="40233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pic>
        <p:nvPicPr>
          <p:cNvPr id="7" name="Image 0" descr="Etilen olish qurilma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10121"/>
            <a:ext cx="2926080" cy="2700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Raqamlarda yil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18872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o'zgarishi (platforma)</a:t>
            </a:r>
            <a:endParaRPr lang="en-US" sz="1300" dirty="0"/>
          </a:p>
        </p:txBody>
      </p:sp>
      <p:sp>
        <p:nvSpPr>
          <p:cNvPr id="6" name="Karta"/>
          <p:cNvSpPr/>
          <p:nvPr/>
        </p:nvSpPr>
        <p:spPr>
          <a:xfrm>
            <a:off x="3291840" y="118872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soat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kuniga o'quvchilar bilan, iyul–sentabr</a:t>
            </a:r>
            <a:endParaRPr lang="en-US" sz="1300" dirty="0"/>
          </a:p>
        </p:txBody>
      </p:sp>
      <p:sp>
        <p:nvSpPr>
          <p:cNvPr id="9" name="Karta"/>
          <p:cNvSpPr/>
          <p:nvPr/>
        </p:nvSpPr>
        <p:spPr>
          <a:xfrm>
            <a:off x="6035040" y="118872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350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sxemasidagi noma'lum</a:t>
            </a:r>
            <a:endParaRPr lang="en-US" sz="1300" dirty="0"/>
          </a:p>
        </p:txBody>
      </p:sp>
      <p:sp>
        <p:nvSpPr>
          <p:cNvPr id="12" name="Karta"/>
          <p:cNvSpPr/>
          <p:nvPr/>
        </p:nvSpPr>
        <p:spPr>
          <a:xfrm>
            <a:off x="548640" y="29718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mantiqiy masala, 4 variant</a:t>
            </a:r>
            <a:endParaRPr lang="en-US" sz="1300" dirty="0"/>
          </a:p>
        </p:txBody>
      </p:sp>
      <p:sp>
        <p:nvSpPr>
          <p:cNvPr id="15" name="Karta"/>
          <p:cNvSpPr/>
          <p:nvPr/>
        </p:nvSpPr>
        <p:spPr>
          <a:xfrm>
            <a:off x="3291840" y="29718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2918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o'tish nuqtalari bo'yicha tahlil qilingan masala</a:t>
            </a:r>
            <a:endParaRPr lang="en-US" sz="1300" dirty="0"/>
          </a:p>
        </p:txBody>
      </p:sp>
      <p:sp>
        <p:nvSpPr>
          <p:cNvPr id="18" name="Karta"/>
          <p:cNvSpPr/>
          <p:nvPr/>
        </p:nvSpPr>
        <p:spPr>
          <a:xfrm>
            <a:off x="6035040" y="29718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35040" y="3154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darslik konspekt qilindi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Yil xaritasi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25400">
            <a:solidFill>
              <a:srgbClr val="145A44"/>
            </a:solidFill>
            <a:prstDash val="solid"/>
          </a:ln>
        </p:spPr>
      </p:sp>
      <p:sp>
        <p:nvSpPr>
          <p:cNvPr id="4" name="Nuqta"/>
          <p:cNvSpPr/>
          <p:nvPr/>
        </p:nvSpPr>
        <p:spPr>
          <a:xfrm>
            <a:off x="114300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Iyul – sentabr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688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 bilan kuniga ~8 soat: sxema, 80/20, olimpiada, MS analoglari</a:t>
            </a:r>
            <a:endParaRPr lang="en-US" sz="1200" dirty="0"/>
          </a:p>
        </p:txBody>
      </p:sp>
      <p:sp>
        <p:nvSpPr>
          <p:cNvPr id="7" name="Nuqta"/>
          <p:cNvSpPr/>
          <p:nvPr/>
        </p:nvSpPr>
        <p:spPr>
          <a:xfrm>
            <a:off x="278892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Avgust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4688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boshlandi: Test Generator, variant savdosi</a:t>
            </a:r>
            <a:endParaRPr lang="en-US" sz="1200" dirty="0"/>
          </a:p>
        </p:txBody>
      </p:sp>
      <p:sp>
        <p:nvSpPr>
          <p:cNvPr id="10" name="Nuqta"/>
          <p:cNvSpPr/>
          <p:nvPr/>
        </p:nvSpPr>
        <p:spPr>
          <a:xfrm>
            <a:off x="443484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Sentyabr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4688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darslar, kanal, botlar, o'tish nuqtalari tahlili</a:t>
            </a:r>
            <a:endParaRPr lang="en-US" sz="1200" dirty="0"/>
          </a:p>
        </p:txBody>
      </p:sp>
      <p:sp>
        <p:nvSpPr>
          <p:cNvPr id="13" name="Nuqta"/>
          <p:cNvSpPr/>
          <p:nvPr/>
        </p:nvSpPr>
        <p:spPr>
          <a:xfrm>
            <a:off x="608076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Oktyabr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4688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 darslari, AI, DTM, jonli darslar, analytics</a:t>
            </a:r>
            <a:endParaRPr lang="en-US" sz="1200" dirty="0"/>
          </a:p>
        </p:txBody>
      </p:sp>
      <p:sp>
        <p:nvSpPr>
          <p:cNvPr id="16" name="Nuqta"/>
          <p:cNvSpPr/>
          <p:nvPr/>
        </p:nvSpPr>
        <p:spPr>
          <a:xfrm>
            <a:off x="7726680" y="1965960"/>
            <a:ext cx="274320" cy="274320"/>
          </a:xfrm>
          <a:prstGeom prst="ellipse">
            <a:avLst/>
          </a:prstGeom>
          <a:solidFill>
            <a:srgbClr val="2ED3A0"/>
          </a:solidFill>
          <a:ln w="25400">
            <a:solidFill>
              <a:srgbClr val="145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Oktyabr oxiri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4688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 kitobi: konspekt va variantlar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 bilan ish tizimi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ka doirasi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5" name="Image 0" descr="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Jadvalli savollar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Mavzular jadval ko'rinishida tayyorlandi</a:t>
            </a:r>
            <a:endParaRPr lang="en-US" sz="1200" dirty="0"/>
          </a:p>
        </p:txBody>
      </p:sp>
      <p:sp>
        <p:nvSpPr>
          <p:cNvPr id="8" name="Karta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ka doirasi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0" name="Image 1" descr="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5270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Organika sxemalari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Misollar sxema orqali o'rgatildi</a:t>
            </a:r>
            <a:endParaRPr lang="en-US" sz="1200" dirty="0"/>
          </a:p>
        </p:txBody>
      </p:sp>
      <p:sp>
        <p:nvSpPr>
          <p:cNvPr id="13" name="Karta"/>
          <p:cNvSpPr/>
          <p:nvPr/>
        </p:nvSpPr>
        <p:spPr>
          <a:xfrm>
            <a:off x="60350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ka doirasi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5" name="Image 2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270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usuli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Uyga vazifaning 80% oldin ishlangan, 20% fikrlatadigan</a:t>
            </a:r>
            <a:endParaRPr lang="en-US" sz="1200" dirty="0"/>
          </a:p>
        </p:txBody>
      </p:sp>
      <p:sp>
        <p:nvSpPr>
          <p:cNvPr id="18" name="Karta"/>
          <p:cNvSpPr/>
          <p:nvPr/>
        </p:nvSpPr>
        <p:spPr>
          <a:xfrm>
            <a:off x="5486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ka doirasi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0" name="Image 3" descr="troph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va darslik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1-daraja savollari maktab ma'lumotlari bilan</a:t>
            </a:r>
            <a:endParaRPr lang="en-US" sz="1200" dirty="0"/>
          </a:p>
        </p:txBody>
      </p:sp>
      <p:sp>
        <p:nvSpPr>
          <p:cNvPr id="23" name="Karta"/>
          <p:cNvSpPr/>
          <p:nvPr/>
        </p:nvSpPr>
        <p:spPr>
          <a:xfrm>
            <a:off x="32918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ka doirasi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5" name="Image 4" descr="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35584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kitoblari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2019, Tongotarov, Samarqand, A+, Jo'rayev: har misol analog bilan</a:t>
            </a:r>
            <a:endParaRPr lang="en-US" sz="1200" dirty="0"/>
          </a:p>
        </p:txBody>
      </p:sp>
      <p:sp>
        <p:nvSpPr>
          <p:cNvPr id="28" name="Karta"/>
          <p:cNvSpPr/>
          <p:nvPr/>
        </p:nvSpPr>
        <p:spPr>
          <a:xfrm>
            <a:off x="60350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konka doirasi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30" name="Image 5" descr="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5584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Mantiqiy masalalar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Dastlabki darslarda matematik mantiqiy masalalar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Tayyorlangan o'quv materiallari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1430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52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sxema, 98 noma'lum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Kislorodli birikmalar: spirt, efir, fenol, aldegid, keton</a:t>
            </a:r>
            <a:endParaRPr lang="en-US" sz="1200" dirty="0"/>
          </a:p>
        </p:txBody>
      </p:sp>
      <p:sp>
        <p:nvSpPr>
          <p:cNvPr id="6" name="Karta"/>
          <p:cNvSpPr/>
          <p:nvPr/>
        </p:nvSpPr>
        <p:spPr>
          <a:xfrm>
            <a:off x="3246120" y="11430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83280" y="1252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oleum masalasi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20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uslubida: neytrallash, konsentratsiya, atomlar nisbati</a:t>
            </a:r>
            <a:endParaRPr lang="en-US" sz="1200" dirty="0"/>
          </a:p>
        </p:txBody>
      </p:sp>
      <p:sp>
        <p:nvSpPr>
          <p:cNvPr id="9" name="Karta"/>
          <p:cNvSpPr/>
          <p:nvPr/>
        </p:nvSpPr>
        <p:spPr>
          <a:xfrm>
            <a:off x="548640" y="301752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20 mantiqiy masala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Ish, harakat, foiz, aralashma, kombinatorika</a:t>
            </a:r>
            <a:endParaRPr lang="en-US" sz="1200" dirty="0"/>
          </a:p>
        </p:txBody>
      </p:sp>
      <p:sp>
        <p:nvSpPr>
          <p:cNvPr id="12" name="Karta"/>
          <p:cNvSpPr/>
          <p:nvPr/>
        </p:nvSpPr>
        <p:spPr>
          <a:xfrm>
            <a:off x="3246120" y="301752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83280" y="3127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analoglari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Tushgan Milliy Sertifikatlardan analog misollar</a:t>
            </a:r>
            <a:endParaRPr lang="en-US" sz="1200" dirty="0"/>
          </a:p>
        </p:txBody>
      </p:sp>
      <p:sp>
        <p:nvSpPr>
          <p:cNvPr id="15" name="Rasm paneli"/>
          <p:cNvSpPr/>
          <p:nvPr/>
        </p:nvSpPr>
        <p:spPr>
          <a:xfrm>
            <a:off x="6035040" y="114300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Muvozanat grafig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50899"/>
            <a:ext cx="2377440" cy="1521562"/>
          </a:xfrm>
          <a:prstGeom prst="rect">
            <a:avLst/>
          </a:prstGeom>
        </p:spPr>
      </p:pic>
      <p:pic>
        <p:nvPicPr>
          <p:cNvPr id="17" name="Image 1" descr="Massa saqlanishi tarozi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345873"/>
            <a:ext cx="2377440" cy="806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 uchun ikki bot</a:t>
            </a:r>
            <a:endParaRPr lang="en-US" sz="2800" dirty="0"/>
          </a:p>
        </p:txBody>
      </p:sp>
      <p:sp>
        <p:nvSpPr>
          <p:cNvPr id="3" name="Bot kartasi"/>
          <p:cNvSpPr/>
          <p:nvPr/>
        </p:nvSpPr>
        <p:spPr>
          <a:xfrm>
            <a:off x="54864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45A44"/>
          </a:solidFill>
          <a:ln/>
        </p:spPr>
      </p:sp>
      <p:sp>
        <p:nvSpPr>
          <p:cNvPr id="4" name="Doira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2ED3A0"/>
          </a:solidFill>
          <a:ln/>
        </p:spPr>
      </p:sp>
      <p:pic>
        <p:nvPicPr>
          <p:cNvPr id="5" name="Image 0" descr="Rasch modeldagi 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Rasch modeldagi bot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darajasi va savol qiyinligini Rasch modeli bo'yicha baholaydi.</a:t>
            </a:r>
            <a:endParaRPr lang="en-US" sz="1500" dirty="0"/>
          </a:p>
        </p:txBody>
      </p:sp>
      <p:sp>
        <p:nvSpPr>
          <p:cNvPr id="8" name="Bot kartasi"/>
          <p:cNvSpPr/>
          <p:nvPr/>
        </p:nvSpPr>
        <p:spPr>
          <a:xfrm>
            <a:off x="4663440" y="128016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45A44"/>
          </a:solidFill>
          <a:ln/>
        </p:spPr>
      </p:sp>
      <p:sp>
        <p:nvSpPr>
          <p:cNvPr id="9" name="Doira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2ED3A0"/>
          </a:solidFill>
          <a:ln/>
        </p:spPr>
      </p:sp>
      <p:pic>
        <p:nvPicPr>
          <p:cNvPr id="10" name="Image 1" descr="Tezkor tekshiruvchi 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Tezkor tekshiruvchi bot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imtihonini bir soniyada tekshirib, natijani qaytaradi.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nooracademy platformasi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konka doirasi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5" name="Image 0" descr="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MS, DTM yili yoki mavzu bo'yicha, PDF</a:t>
            </a:r>
            <a:endParaRPr lang="en-US" sz="1200" dirty="0"/>
          </a:p>
        </p:txBody>
      </p:sp>
      <p:sp>
        <p:nvSpPr>
          <p:cNvPr id="8" name="Karta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konka doirasi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0" name="Image 1" descr="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5270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va mavzu videolari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savolga o'qituvchi izohi</a:t>
            </a:r>
            <a:endParaRPr lang="en-US" sz="1200" dirty="0"/>
          </a:p>
        </p:txBody>
      </p:sp>
      <p:sp>
        <p:nvSpPr>
          <p:cNvPr id="13" name="Karta"/>
          <p:cNvSpPr/>
          <p:nvPr/>
        </p:nvSpPr>
        <p:spPr>
          <a:xfrm>
            <a:off x="6035040" y="12344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konka doirasi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15" name="Image 2" descr="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270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yordamchi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matniga tayangan javoblar</a:t>
            </a:r>
            <a:endParaRPr lang="en-US" sz="1200" dirty="0"/>
          </a:p>
        </p:txBody>
      </p:sp>
      <p:sp>
        <p:nvSpPr>
          <p:cNvPr id="18" name="Karta"/>
          <p:cNvSpPr/>
          <p:nvPr/>
        </p:nvSpPr>
        <p:spPr>
          <a:xfrm>
            <a:off x="5486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konka doirasi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0" name="Image 3" descr="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misollar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A–D kartochka, PDF ishchi varaq</a:t>
            </a:r>
            <a:endParaRPr lang="en-US" sz="1200" dirty="0"/>
          </a:p>
        </p:txBody>
      </p:sp>
      <p:sp>
        <p:nvSpPr>
          <p:cNvPr id="23" name="Karta"/>
          <p:cNvSpPr/>
          <p:nvPr/>
        </p:nvSpPr>
        <p:spPr>
          <a:xfrm>
            <a:off x="32918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konka doirasi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25" name="Image 4" descr="pa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35584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747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 bilan to'lov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Telegramda tasdiqlash yoki rad etish</a:t>
            </a:r>
            <a:endParaRPr lang="en-US" sz="1200" dirty="0"/>
          </a:p>
        </p:txBody>
      </p:sp>
      <p:sp>
        <p:nvSpPr>
          <p:cNvPr id="28" name="Karta"/>
          <p:cNvSpPr/>
          <p:nvPr/>
        </p:nvSpPr>
        <p:spPr>
          <a:xfrm>
            <a:off x="6035040" y="30632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konka doirasi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45A44"/>
          </a:solidFill>
          <a:ln/>
        </p:spPr>
      </p:sp>
      <p:pic>
        <p:nvPicPr>
          <p:cNvPr id="30" name="Image 5" descr="cha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5584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darslar va analytics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Yozuvlar, zaif mavzular va tavsiya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Platforma ustida ish: 88 o'zgarish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O'tish nuqtalari: to'rt o'quvchi, 121 masala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arta"/>
          <p:cNvSpPr/>
          <p:nvPr/>
        </p:nvSpPr>
        <p:spPr>
          <a:xfrm>
            <a:off x="5669280" y="1188720"/>
            <a:ext cx="2926080" cy="33832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806440" y="128016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Zanjir eng ko'p Q3→Q4 da uziladi: 38 ta masala.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Kamida 8 holatda hisob to'g'ri, varaqda boshqa variant belgilangan.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Shartdagi so'z o'zgartiriladi: dastlabki, hosil bo'lgan, qismi.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o'tishga alohida mashq beriladi.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Milliy Sertifikat kimyo kitobi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 va MS imtihonlari tahlil qilindi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Olimpiada masalalaridan MSga mosi tanlandi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 darslik o'qilib konspekt qilindi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variantlik reja, 1- va 2-variant tayyor</a:t>
            </a:r>
            <a:endParaRPr lang="en-US" sz="1600" dirty="0"/>
          </a:p>
        </p:txBody>
      </p:sp>
      <p:sp>
        <p:nvSpPr>
          <p:cNvPr id="4" name="Holat"/>
          <p:cNvSpPr/>
          <p:nvPr/>
        </p:nvSpPr>
        <p:spPr>
          <a:xfrm>
            <a:off x="54864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45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bosqich: darslik faktlaridan MS uslubidagi masalalar tuzish</a:t>
            </a:r>
            <a:endParaRPr lang="en-US" sz="1400" dirty="0"/>
          </a:p>
        </p:txBody>
      </p:sp>
      <p:sp>
        <p:nvSpPr>
          <p:cNvPr id="6" name="Rasmlar paneli"/>
          <p:cNvSpPr/>
          <p:nvPr/>
        </p:nvSpPr>
        <p:spPr>
          <a:xfrm>
            <a:off x="4754880" y="1188720"/>
            <a:ext cx="38404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pic>
        <p:nvPicPr>
          <p:cNvPr id="7" name="Image 0" descr="Laboratoriya qurilmalar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9970"/>
            <a:ext cx="3657600" cy="1717739"/>
          </a:xfrm>
          <a:prstGeom prst="rect">
            <a:avLst/>
          </a:prstGeom>
        </p:spPr>
      </p:pic>
      <p:pic>
        <p:nvPicPr>
          <p:cNvPr id="8" name="Image 1" descr="Muvozanat grafig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09544"/>
            <a:ext cx="1828800" cy="1170432"/>
          </a:xfrm>
          <a:prstGeom prst="rect">
            <a:avLst/>
          </a:prstGeom>
        </p:spPr>
      </p:pic>
      <p:pic>
        <p:nvPicPr>
          <p:cNvPr id="9" name="Image 2" descr="Taroz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492385"/>
            <a:ext cx="1783080" cy="604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Yil xulosalari</a:t>
            </a:r>
            <a:endParaRPr lang="en-US" sz="2800" dirty="0"/>
          </a:p>
        </p:txBody>
      </p:sp>
      <p:sp>
        <p:nvSpPr>
          <p:cNvPr id="3" name="Xulosa qatori"/>
          <p:cNvSpPr/>
          <p:nvPr/>
        </p:nvSpPr>
        <p:spPr>
          <a:xfrm>
            <a:off x="548640" y="11430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 bilan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1430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Sxema, 80/20, olimpiada va MS analoglari birga ishlaydigan tizim tuzildi.</a:t>
            </a:r>
            <a:endParaRPr lang="en-US" sz="1400" dirty="0"/>
          </a:p>
        </p:txBody>
      </p:sp>
      <p:sp>
        <p:nvSpPr>
          <p:cNvPr id="6" name="Xulosa qatori"/>
          <p:cNvSpPr/>
          <p:nvPr/>
        </p:nvSpPr>
        <p:spPr>
          <a:xfrm>
            <a:off x="548640" y="2075688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756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Texnologiya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207568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Platforma, AI yordamchi, ikki bot va jonli darslar ishga tushdi.</a:t>
            </a:r>
            <a:endParaRPr lang="en-US" sz="1400" dirty="0"/>
          </a:p>
        </p:txBody>
      </p:sp>
      <p:sp>
        <p:nvSpPr>
          <p:cNvPr id="9" name="Xulosa qatori"/>
          <p:cNvSpPr/>
          <p:nvPr/>
        </p:nvSpPr>
        <p:spPr>
          <a:xfrm>
            <a:off x="548640" y="3008376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00837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Tahlil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00837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nuqta bilim emas, ko'pincha yakuniy qadam ekani ko'rsatildi.</a:t>
            </a:r>
            <a:endParaRPr lang="en-US" sz="1400" dirty="0"/>
          </a:p>
        </p:txBody>
      </p:sp>
      <p:sp>
        <p:nvSpPr>
          <p:cNvPr id="12" name="Xulosa qatori"/>
          <p:cNvSpPr/>
          <p:nvPr/>
        </p:nvSpPr>
        <p:spPr>
          <a:xfrm>
            <a:off x="548640" y="3941064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45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94106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Kitob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94106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va konspekt tugadi, masalalar tuzish boshlanadi.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Keyingi yil rejalari</a:t>
            </a:r>
            <a:endParaRPr lang="en-US" sz="2800" dirty="0"/>
          </a:p>
        </p:txBody>
      </p:sp>
      <p:sp>
        <p:nvSpPr>
          <p:cNvPr id="3" name="Karta"/>
          <p:cNvSpPr/>
          <p:nvPr/>
        </p:nvSpPr>
        <p:spPr>
          <a:xfrm>
            <a:off x="548640" y="11430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Kitob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143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uslubidagi masalalarni tuzish va variantlarni 20 taga yetkazish</a:t>
            </a:r>
            <a:endParaRPr lang="en-US" sz="1400" dirty="0"/>
          </a:p>
        </p:txBody>
      </p:sp>
      <p:sp>
        <p:nvSpPr>
          <p:cNvPr id="6" name="Karta"/>
          <p:cNvSpPr/>
          <p:nvPr/>
        </p:nvSpPr>
        <p:spPr>
          <a:xfrm>
            <a:off x="548640" y="2075688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0756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7568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masalaning qaysi bosqichida qiynalishini aniqlash</a:t>
            </a:r>
            <a:endParaRPr lang="en-US" sz="1400" dirty="0"/>
          </a:p>
        </p:txBody>
      </p:sp>
      <p:sp>
        <p:nvSpPr>
          <p:cNvPr id="9" name="Karta"/>
          <p:cNvSpPr/>
          <p:nvPr/>
        </p:nvSpPr>
        <p:spPr>
          <a:xfrm>
            <a:off x="548640" y="3008376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00837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O'quvchilar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008376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o'tishlarga alohida mashq va javobni tekshirish odati</a:t>
            </a:r>
            <a:endParaRPr lang="en-US" sz="1400" dirty="0"/>
          </a:p>
        </p:txBody>
      </p:sp>
      <p:sp>
        <p:nvSpPr>
          <p:cNvPr id="12" name="Karta"/>
          <p:cNvSpPr/>
          <p:nvPr/>
        </p:nvSpPr>
        <p:spPr>
          <a:xfrm>
            <a:off x="548640" y="3941064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94106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94106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kanal va jonli darslar orqali yangi o'quvchilar jalb qilish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Yillik sarhisob 2026</dc:title>
  <dc:subject>PptxGenJS Presentation</dc:subject>
  <dc:creator>Bobur</dc:creator>
  <cp:lastModifiedBy>Bobur</cp:lastModifiedBy>
  <cp:revision>1</cp:revision>
  <dcterms:created xsi:type="dcterms:W3CDTF">2026-10-25T17:40:05Z</dcterms:created>
  <dcterms:modified xsi:type="dcterms:W3CDTF">2026-10-25T17:40:05Z</dcterms:modified>
</cp:coreProperties>
</file>